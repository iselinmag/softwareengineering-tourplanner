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66" d="100"/>
          <a:sy n="166" d="100"/>
        </p:scale>
        <p:origin x="208"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58319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yourselves. One sentence: Tour Planner lets a user plan bike, hike, running or vacation tours, see them on a real map, and keep logs of the tours they actually did. Two-tier app: Angular frontend, Spring Boot backend, PostgreSQL database.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feature groups quickly, do not demo yet. Mention the ownership model was confirmed with the professor: everyone can view and log, only the owner edits or deletes.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order: 1) register a fresh user and log in. 2) create a tour Vienna to Graz, point at the distance and time arriving from OpenRouteService and the route drawn by Leaflet. 3) open details, add a log, show popularity and child friendliness updating. 4) upload an image, flip through the gallery. 5) search for a word that only exists in a log comment. 6) export, then import. 7) log in as a second user to show edit and delete are hidden and blocked on foreign tours.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Frontend follows MVVM: the view shows things, the viewmodel holds screen state in signals, the model services do the HTTP. Backend has controllers (receive requests), services (all the logic and ownership checks), repositories (only classes touching the database through JPA). Config lives outside the code, images live on the file system, everything else in PostgreSQL.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arrows: controller to service to repository to entity, never skipping a layer. Errors have their own classes per layer: NotFound gives 404, Forbidden 403, Conflict 409, Unauthorized 401, translated in one global handler.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typed word travels through eight stations. A single JPQL query searches tour name, description, both locations and all log comments at once. On the way back the service computes popularity and child friendliness for every hit, so results carry the badges. Clarified with the professor: searching inside the computed values themselves is not needed.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per pattern plus where it lives: Repository = the three JPA interfaces. DI = every constructor in backend and frontend. MVVM = TourListViewModel and TourLogViewModel with signals. If asked for more: the DTO pattern and the layered architecture itself also count.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service layer: controllers only forward and repositories are generated by Spring, so testing them tests the framework. The services hold our decisions, a bug there corrupts data. Mockito replaces the database and the route API with stand-ins, so tests run in seconds. The similar-looking computed attribute tests each hit a different branch, so none is a duplicate.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terminal, run ./mvnw test, talk while it runs: JUnit runs the tests, Mockito plays the database and the route API, AssertJ writes the readable checks. When the summary appears, point at the zero failures and the test count.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gallery shows file upload with validation, external image storage on the file system, an aggregation endpoint, and our reusable UI component, all in one demonstrable feature. Nice demo detail: images survive a backend restart because they live on disk.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two failures to tell as short stories, the 500 fix and the coordinate order are the best ones. Each failure maps to a lesson on the right.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the real total hours before presenting. Close with: the git history documents the whole journey, the protocol has all diagrams, we are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5F2D"/>
        </a:solidFill>
        <a:effectLst/>
      </p:bgPr>
    </p:bg>
    <p:spTree>
      <p:nvGrpSpPr>
        <p:cNvPr id="1" name=""/>
        <p:cNvGrpSpPr/>
        <p:nvPr/>
      </p:nvGrpSpPr>
      <p:grpSpPr>
        <a:xfrm>
          <a:off x="0" y="0"/>
          <a:ext cx="0" cy="0"/>
          <a:chOff x="0" y="0"/>
          <a:chExt cx="0" cy="0"/>
        </a:xfrm>
      </p:grpSpPr>
      <p:sp>
        <p:nvSpPr>
          <p:cNvPr id="2" name="Text 0"/>
          <p:cNvSpPr/>
          <p:nvPr/>
        </p:nvSpPr>
        <p:spPr>
          <a:xfrm>
            <a:off x="731520" y="1417320"/>
            <a:ext cx="7680960" cy="914400"/>
          </a:xfrm>
          <a:prstGeom prst="rect">
            <a:avLst/>
          </a:prstGeom>
          <a:noFill/>
          <a:ln/>
        </p:spPr>
        <p:txBody>
          <a:bodyPr wrap="square" lIns="0" tIns="0" rIns="0" bIns="0" rtlCol="0" anchor="ctr"/>
          <a:lstStyle/>
          <a:p>
            <a:pPr marL="0" indent="0" algn="ctr">
              <a:buNone/>
            </a:pPr>
            <a:r>
              <a:rPr lang="en-US" sz="5400" b="1" dirty="0">
                <a:solidFill>
                  <a:srgbClr val="FFFFFF"/>
                </a:solidFill>
                <a:latin typeface="Cambria" pitchFamily="34" charset="0"/>
                <a:ea typeface="Cambria" pitchFamily="34" charset="-122"/>
                <a:cs typeface="Cambria" pitchFamily="34" charset="-120"/>
              </a:rPr>
              <a:t>Tour Planner</a:t>
            </a:r>
            <a:endParaRPr lang="en-US" sz="5400" dirty="0"/>
          </a:p>
        </p:txBody>
      </p:sp>
      <p:sp>
        <p:nvSpPr>
          <p:cNvPr id="3" name="Text 1"/>
          <p:cNvSpPr/>
          <p:nvPr/>
        </p:nvSpPr>
        <p:spPr>
          <a:xfrm>
            <a:off x="731520" y="2377440"/>
            <a:ext cx="7680960" cy="411480"/>
          </a:xfrm>
          <a:prstGeom prst="rect">
            <a:avLst/>
          </a:prstGeom>
          <a:noFill/>
          <a:ln/>
        </p:spPr>
        <p:txBody>
          <a:bodyPr wrap="square" rtlCol="0" anchor="ctr"/>
          <a:lstStyle/>
          <a:p>
            <a:pPr marL="0" indent="0" algn="ctr">
              <a:buNone/>
            </a:pPr>
            <a:r>
              <a:rPr lang="en-US" sz="1800" i="1" dirty="0">
                <a:solidFill>
                  <a:srgbClr val="EAF3E0"/>
                </a:solidFill>
                <a:latin typeface="Calibri" pitchFamily="34" charset="0"/>
                <a:ea typeface="Calibri" pitchFamily="34" charset="-122"/>
                <a:cs typeface="Calibri" pitchFamily="34" charset="-120"/>
              </a:rPr>
              <a:t>plan tours, log them, see them on the map</a:t>
            </a:r>
            <a:endParaRPr lang="en-US" sz="1800" dirty="0"/>
          </a:p>
        </p:txBody>
      </p:sp>
      <p:sp>
        <p:nvSpPr>
          <p:cNvPr id="4" name="Text 2"/>
          <p:cNvSpPr/>
          <p:nvPr/>
        </p:nvSpPr>
        <p:spPr>
          <a:xfrm>
            <a:off x="731520" y="3246120"/>
            <a:ext cx="7680960" cy="731520"/>
          </a:xfrm>
          <a:prstGeom prst="rect">
            <a:avLst/>
          </a:prstGeom>
          <a:noFill/>
          <a:ln/>
        </p:spPr>
        <p:txBody>
          <a:bodyPr wrap="square" rtlCol="0" anchor="ctr"/>
          <a:lstStyle/>
          <a:p>
            <a:pPr marL="0" indent="0" algn="ctr">
              <a:buNone/>
            </a:pPr>
            <a:r>
              <a:rPr lang="en-US" sz="1600" dirty="0">
                <a:solidFill>
                  <a:srgbClr val="FFFFFF"/>
                </a:solidFill>
                <a:latin typeface="Calibri" pitchFamily="34" charset="0"/>
                <a:ea typeface="Calibri" pitchFamily="34" charset="-122"/>
                <a:cs typeface="Calibri" pitchFamily="34" charset="-120"/>
              </a:rPr>
              <a:t>Matej Krsteski   ·   Iselin Magnussen</a:t>
            </a:r>
            <a:endParaRPr lang="en-US" sz="1600" dirty="0"/>
          </a:p>
          <a:p>
            <a:pPr marL="0" indent="0" algn="ctr">
              <a:buNone/>
            </a:pPr>
            <a:r>
              <a:rPr lang="en-US" sz="1250" dirty="0">
                <a:solidFill>
                  <a:srgbClr val="97BC62"/>
                </a:solidFill>
                <a:latin typeface="Calibri" pitchFamily="34" charset="0"/>
                <a:ea typeface="Calibri" pitchFamily="34" charset="-122"/>
                <a:cs typeface="Calibri" pitchFamily="34" charset="-120"/>
              </a:rPr>
              <a:t>Angular  +  Spring Boot  +  PostgreSQL</a:t>
            </a:r>
            <a:endParaRPr lang="en-US" sz="1600" dirty="0"/>
          </a:p>
        </p:txBody>
      </p:sp>
      <p:pic>
        <p:nvPicPr>
          <p:cNvPr id="5" name="Image 0" descr="preencoded.png"/>
          <p:cNvPicPr>
            <a:picLocks noChangeAspect="1"/>
          </p:cNvPicPr>
          <p:nvPr/>
        </p:nvPicPr>
        <p:blipFill>
          <a:blip r:embed="rId3"/>
          <a:stretch>
            <a:fillRect/>
          </a:stretch>
        </p:blipFill>
        <p:spPr>
          <a:xfrm>
            <a:off x="2889504" y="4315968"/>
            <a:ext cx="237744" cy="237744"/>
          </a:xfrm>
          <a:prstGeom prst="rect">
            <a:avLst/>
          </a:prstGeom>
        </p:spPr>
      </p:pic>
      <p:sp>
        <p:nvSpPr>
          <p:cNvPr id="6" name="Text 3"/>
          <p:cNvSpPr/>
          <p:nvPr/>
        </p:nvSpPr>
        <p:spPr>
          <a:xfrm>
            <a:off x="3200400" y="4297680"/>
            <a:ext cx="4206240" cy="274320"/>
          </a:xfrm>
          <a:prstGeom prst="rect">
            <a:avLst/>
          </a:prstGeom>
          <a:noFill/>
          <a:ln/>
        </p:spPr>
        <p:txBody>
          <a:bodyPr wrap="square" lIns="0" tIns="0" rIns="0" bIns="0" rtlCol="0" anchor="ctr"/>
          <a:lstStyle/>
          <a:p>
            <a:pPr marL="0" indent="0">
              <a:buNone/>
            </a:pPr>
            <a:r>
              <a:rPr lang="en-US" sz="1150" dirty="0">
                <a:solidFill>
                  <a:srgbClr val="EAF3E0"/>
                </a:solidFill>
                <a:latin typeface="Calibri" pitchFamily="34" charset="0"/>
                <a:ea typeface="Calibri" pitchFamily="34" charset="-122"/>
                <a:cs typeface="Calibri" pitchFamily="34" charset="-120"/>
              </a:rPr>
              <a:t>github.com/iselinmag/SoftwareEngineering-TourPlanner</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8138160" cy="566928"/>
          </a:xfrm>
          <a:prstGeom prst="rect">
            <a:avLst/>
          </a:prstGeom>
          <a:noFill/>
          <a:ln/>
        </p:spPr>
        <p:txBody>
          <a:bodyPr wrap="square" lIns="0" tIns="0" rIns="0" bIns="0" rtlCol="0" anchor="ctr"/>
          <a:lstStyle/>
          <a:p>
            <a:pPr marL="0" indent="0">
              <a:buNone/>
            </a:pPr>
            <a:r>
              <a:rPr lang="en-US" sz="3000" b="1" dirty="0">
                <a:solidFill>
                  <a:srgbClr val="2C5F2D"/>
                </a:solidFill>
                <a:latin typeface="Cambria" pitchFamily="34" charset="0"/>
                <a:ea typeface="Cambria" pitchFamily="34" charset="-122"/>
                <a:cs typeface="Cambria" pitchFamily="34" charset="-120"/>
              </a:rPr>
              <a:t>What the app does</a:t>
            </a:r>
            <a:endParaRPr lang="en-US" sz="3000" dirty="0"/>
          </a:p>
        </p:txBody>
      </p:sp>
      <p:sp>
        <p:nvSpPr>
          <p:cNvPr id="3" name="Text 1"/>
          <p:cNvSpPr/>
          <p:nvPr/>
        </p:nvSpPr>
        <p:spPr>
          <a:xfrm>
            <a:off x="502920" y="786384"/>
            <a:ext cx="8138160" cy="320040"/>
          </a:xfrm>
          <a:prstGeom prst="rect">
            <a:avLst/>
          </a:prstGeom>
          <a:noFill/>
          <a:ln/>
        </p:spPr>
        <p:txBody>
          <a:bodyPr wrap="square" lIns="0" tIns="0" rIns="0" bIns="0" rtlCol="0" anchor="ctr"/>
          <a:lstStyle/>
          <a:p>
            <a:pPr marL="0" indent="0">
              <a:buNone/>
            </a:pPr>
            <a:r>
              <a:rPr lang="en-US" sz="1300" i="1" dirty="0">
                <a:solidFill>
                  <a:srgbClr val="5B6B58"/>
                </a:solidFill>
                <a:latin typeface="Calibri" pitchFamily="34" charset="0"/>
                <a:ea typeface="Calibri" pitchFamily="34" charset="-122"/>
                <a:cs typeface="Calibri" pitchFamily="34" charset="-120"/>
              </a:rPr>
              <a:t>all features are live in the demo</a:t>
            </a:r>
            <a:endParaRPr lang="en-US" sz="1300" dirty="0"/>
          </a:p>
        </p:txBody>
      </p:sp>
      <p:sp>
        <p:nvSpPr>
          <p:cNvPr id="4" name="Shape 2"/>
          <p:cNvSpPr/>
          <p:nvPr/>
        </p:nvSpPr>
        <p:spPr>
          <a:xfrm>
            <a:off x="502920" y="1234440"/>
            <a:ext cx="3977640" cy="1078992"/>
          </a:xfrm>
          <a:prstGeom prst="roundRect">
            <a:avLst>
              <a:gd name="adj" fmla="val 5085"/>
            </a:avLst>
          </a:prstGeom>
          <a:solidFill>
            <a:srgbClr val="F5F8F1"/>
          </a:solidFill>
          <a:ln/>
          <a:effectLst>
            <a:outerShdw blurRad="88900" dist="25400" dir="2700000" algn="bl" rotWithShape="0">
              <a:srgbClr val="000000">
                <a:alpha val="13000"/>
              </a:srgbClr>
            </a:outerShdw>
          </a:effectLst>
        </p:spPr>
        <p:txBody>
          <a:bodyPr/>
          <a:lstStyle/>
          <a:p>
            <a:endParaRPr lang="en-MK"/>
          </a:p>
        </p:txBody>
      </p:sp>
      <p:sp>
        <p:nvSpPr>
          <p:cNvPr id="5" name="Shape 3"/>
          <p:cNvSpPr/>
          <p:nvPr/>
        </p:nvSpPr>
        <p:spPr>
          <a:xfrm>
            <a:off x="649224" y="1536192"/>
            <a:ext cx="475488" cy="475488"/>
          </a:xfrm>
          <a:prstGeom prst="ellipse">
            <a:avLst/>
          </a:prstGeom>
          <a:solidFill>
            <a:srgbClr val="EAF3E0"/>
          </a:solidFill>
          <a:ln/>
        </p:spPr>
        <p:txBody>
          <a:bodyPr/>
          <a:lstStyle/>
          <a:p>
            <a:endParaRPr lang="en-MK"/>
          </a:p>
        </p:txBody>
      </p:sp>
      <p:pic>
        <p:nvPicPr>
          <p:cNvPr id="6" name="Image 0" descr="preencoded.png"/>
          <p:cNvPicPr>
            <a:picLocks noChangeAspect="1"/>
          </p:cNvPicPr>
          <p:nvPr/>
        </p:nvPicPr>
        <p:blipFill>
          <a:blip r:embed="rId3"/>
          <a:stretch>
            <a:fillRect/>
          </a:stretch>
        </p:blipFill>
        <p:spPr>
          <a:xfrm>
            <a:off x="753831" y="1640799"/>
            <a:ext cx="266273" cy="266273"/>
          </a:xfrm>
          <a:prstGeom prst="rect">
            <a:avLst/>
          </a:prstGeom>
        </p:spPr>
      </p:pic>
      <p:sp>
        <p:nvSpPr>
          <p:cNvPr id="7" name="Text 4"/>
          <p:cNvSpPr/>
          <p:nvPr/>
        </p:nvSpPr>
        <p:spPr>
          <a:xfrm>
            <a:off x="1252728" y="1344168"/>
            <a:ext cx="3108960" cy="896112"/>
          </a:xfrm>
          <a:prstGeom prst="rect">
            <a:avLst/>
          </a:prstGeom>
          <a:noFill/>
          <a:ln/>
        </p:spPr>
        <p:txBody>
          <a:bodyPr wrap="square" rtlCol="0" anchor="ctr"/>
          <a:lstStyle/>
          <a:p>
            <a:pPr marL="0" indent="0">
              <a:buNone/>
            </a:pPr>
            <a:r>
              <a:rPr lang="en-US" sz="1350" b="1" dirty="0">
                <a:solidFill>
                  <a:srgbClr val="22301F"/>
                </a:solidFill>
                <a:latin typeface="Calibri" pitchFamily="34" charset="0"/>
                <a:ea typeface="Calibri" pitchFamily="34" charset="-122"/>
                <a:cs typeface="Calibri" pitchFamily="34" charset="-120"/>
              </a:rPr>
              <a:t>Accounts and ownership</a:t>
            </a:r>
            <a:endParaRPr lang="en-US" sz="1350" dirty="0"/>
          </a:p>
          <a:p>
            <a:pPr marL="0" indent="0">
              <a:buNone/>
            </a:pPr>
            <a:r>
              <a:rPr lang="en-US" sz="1100" dirty="0">
                <a:solidFill>
                  <a:srgbClr val="5B6B58"/>
                </a:solidFill>
                <a:latin typeface="Calibri" pitchFamily="34" charset="0"/>
                <a:ea typeface="Calibri" pitchFamily="34" charset="-122"/>
                <a:cs typeface="Calibri" pitchFamily="34" charset="-120"/>
              </a:rPr>
              <a:t>register, log in, everyone sees all tours, only the creator can edit or delete</a:t>
            </a:r>
            <a:endParaRPr lang="en-US" sz="1350" dirty="0"/>
          </a:p>
        </p:txBody>
      </p:sp>
      <p:sp>
        <p:nvSpPr>
          <p:cNvPr id="8" name="Shape 5"/>
          <p:cNvSpPr/>
          <p:nvPr/>
        </p:nvSpPr>
        <p:spPr>
          <a:xfrm>
            <a:off x="4800600" y="1234440"/>
            <a:ext cx="3977640" cy="1078992"/>
          </a:xfrm>
          <a:prstGeom prst="roundRect">
            <a:avLst>
              <a:gd name="adj" fmla="val 5085"/>
            </a:avLst>
          </a:prstGeom>
          <a:solidFill>
            <a:srgbClr val="F5F8F1"/>
          </a:solidFill>
          <a:ln/>
          <a:effectLst>
            <a:outerShdw blurRad="88900" dist="25400" dir="2700000" algn="bl" rotWithShape="0">
              <a:srgbClr val="000000">
                <a:alpha val="13000"/>
              </a:srgbClr>
            </a:outerShdw>
          </a:effectLst>
        </p:spPr>
        <p:txBody>
          <a:bodyPr/>
          <a:lstStyle/>
          <a:p>
            <a:endParaRPr lang="en-MK"/>
          </a:p>
        </p:txBody>
      </p:sp>
      <p:sp>
        <p:nvSpPr>
          <p:cNvPr id="9" name="Shape 6"/>
          <p:cNvSpPr/>
          <p:nvPr/>
        </p:nvSpPr>
        <p:spPr>
          <a:xfrm>
            <a:off x="4946904" y="1536192"/>
            <a:ext cx="475488" cy="475488"/>
          </a:xfrm>
          <a:prstGeom prst="ellipse">
            <a:avLst/>
          </a:prstGeom>
          <a:solidFill>
            <a:srgbClr val="EAF3E0"/>
          </a:solidFill>
          <a:ln/>
        </p:spPr>
        <p:txBody>
          <a:bodyPr/>
          <a:lstStyle/>
          <a:p>
            <a:endParaRPr lang="en-MK"/>
          </a:p>
        </p:txBody>
      </p:sp>
      <p:pic>
        <p:nvPicPr>
          <p:cNvPr id="10" name="Image 1" descr="preencoded.png"/>
          <p:cNvPicPr>
            <a:picLocks noChangeAspect="1"/>
          </p:cNvPicPr>
          <p:nvPr/>
        </p:nvPicPr>
        <p:blipFill>
          <a:blip r:embed="rId4"/>
          <a:stretch>
            <a:fillRect/>
          </a:stretch>
        </p:blipFill>
        <p:spPr>
          <a:xfrm>
            <a:off x="5051511" y="1640799"/>
            <a:ext cx="266273" cy="266273"/>
          </a:xfrm>
          <a:prstGeom prst="rect">
            <a:avLst/>
          </a:prstGeom>
        </p:spPr>
      </p:pic>
      <p:sp>
        <p:nvSpPr>
          <p:cNvPr id="11" name="Text 7"/>
          <p:cNvSpPr/>
          <p:nvPr/>
        </p:nvSpPr>
        <p:spPr>
          <a:xfrm>
            <a:off x="5550408" y="1344168"/>
            <a:ext cx="3108960" cy="896112"/>
          </a:xfrm>
          <a:prstGeom prst="rect">
            <a:avLst/>
          </a:prstGeom>
          <a:noFill/>
          <a:ln/>
        </p:spPr>
        <p:txBody>
          <a:bodyPr wrap="square" rtlCol="0" anchor="ctr"/>
          <a:lstStyle/>
          <a:p>
            <a:pPr marL="0" indent="0">
              <a:buNone/>
            </a:pPr>
            <a:r>
              <a:rPr lang="en-US" sz="1350" b="1" dirty="0">
                <a:solidFill>
                  <a:srgbClr val="22301F"/>
                </a:solidFill>
                <a:latin typeface="Calibri" pitchFamily="34" charset="0"/>
                <a:ea typeface="Calibri" pitchFamily="34" charset="-122"/>
                <a:cs typeface="Calibri" pitchFamily="34" charset="-120"/>
              </a:rPr>
              <a:t>Tours with real routes</a:t>
            </a:r>
            <a:endParaRPr lang="en-US" sz="1350" dirty="0"/>
          </a:p>
          <a:p>
            <a:pPr marL="0" indent="0">
              <a:buNone/>
            </a:pPr>
            <a:r>
              <a:rPr lang="en-US" sz="1100" dirty="0">
                <a:solidFill>
                  <a:srgbClr val="5B6B58"/>
                </a:solidFill>
                <a:latin typeface="Calibri" pitchFamily="34" charset="0"/>
                <a:ea typeface="Calibri" pitchFamily="34" charset="-122"/>
                <a:cs typeface="Calibri" pitchFamily="34" charset="-120"/>
              </a:rPr>
              <a:t>distance, time and route come live from OpenRouteService</a:t>
            </a:r>
            <a:endParaRPr lang="en-US" sz="1350" dirty="0"/>
          </a:p>
        </p:txBody>
      </p:sp>
      <p:sp>
        <p:nvSpPr>
          <p:cNvPr id="12" name="Shape 8"/>
          <p:cNvSpPr/>
          <p:nvPr/>
        </p:nvSpPr>
        <p:spPr>
          <a:xfrm>
            <a:off x="502920" y="2514600"/>
            <a:ext cx="3977640" cy="1078992"/>
          </a:xfrm>
          <a:prstGeom prst="roundRect">
            <a:avLst>
              <a:gd name="adj" fmla="val 5085"/>
            </a:avLst>
          </a:prstGeom>
          <a:solidFill>
            <a:srgbClr val="F5F8F1"/>
          </a:solidFill>
          <a:ln/>
          <a:effectLst>
            <a:outerShdw blurRad="88900" dist="25400" dir="2700000" algn="bl" rotWithShape="0">
              <a:srgbClr val="000000">
                <a:alpha val="13000"/>
              </a:srgbClr>
            </a:outerShdw>
          </a:effectLst>
        </p:spPr>
        <p:txBody>
          <a:bodyPr/>
          <a:lstStyle/>
          <a:p>
            <a:endParaRPr lang="en-MK"/>
          </a:p>
        </p:txBody>
      </p:sp>
      <p:sp>
        <p:nvSpPr>
          <p:cNvPr id="13" name="Shape 9"/>
          <p:cNvSpPr/>
          <p:nvPr/>
        </p:nvSpPr>
        <p:spPr>
          <a:xfrm>
            <a:off x="649224" y="2816352"/>
            <a:ext cx="475488" cy="475488"/>
          </a:xfrm>
          <a:prstGeom prst="ellipse">
            <a:avLst/>
          </a:prstGeom>
          <a:solidFill>
            <a:srgbClr val="EAF3E0"/>
          </a:solidFill>
          <a:ln/>
        </p:spPr>
        <p:txBody>
          <a:bodyPr/>
          <a:lstStyle/>
          <a:p>
            <a:endParaRPr lang="en-MK"/>
          </a:p>
        </p:txBody>
      </p:sp>
      <p:pic>
        <p:nvPicPr>
          <p:cNvPr id="14" name="Image 2" descr="preencoded.png"/>
          <p:cNvPicPr>
            <a:picLocks noChangeAspect="1"/>
          </p:cNvPicPr>
          <p:nvPr/>
        </p:nvPicPr>
        <p:blipFill>
          <a:blip r:embed="rId5"/>
          <a:stretch>
            <a:fillRect/>
          </a:stretch>
        </p:blipFill>
        <p:spPr>
          <a:xfrm>
            <a:off x="753831" y="2920959"/>
            <a:ext cx="266273" cy="266273"/>
          </a:xfrm>
          <a:prstGeom prst="rect">
            <a:avLst/>
          </a:prstGeom>
        </p:spPr>
      </p:pic>
      <p:sp>
        <p:nvSpPr>
          <p:cNvPr id="15" name="Text 10"/>
          <p:cNvSpPr/>
          <p:nvPr/>
        </p:nvSpPr>
        <p:spPr>
          <a:xfrm>
            <a:off x="1252728" y="2624328"/>
            <a:ext cx="3108960" cy="896112"/>
          </a:xfrm>
          <a:prstGeom prst="rect">
            <a:avLst/>
          </a:prstGeom>
          <a:noFill/>
          <a:ln/>
        </p:spPr>
        <p:txBody>
          <a:bodyPr wrap="square" rtlCol="0" anchor="ctr"/>
          <a:lstStyle/>
          <a:p>
            <a:pPr marL="0" indent="0">
              <a:buNone/>
            </a:pPr>
            <a:r>
              <a:rPr lang="en-US" sz="1350" b="1" dirty="0">
                <a:solidFill>
                  <a:srgbClr val="22301F"/>
                </a:solidFill>
                <a:latin typeface="Calibri" pitchFamily="34" charset="0"/>
                <a:ea typeface="Calibri" pitchFamily="34" charset="-122"/>
                <a:cs typeface="Calibri" pitchFamily="34" charset="-120"/>
              </a:rPr>
              <a:t>Map display</a:t>
            </a:r>
            <a:endParaRPr lang="en-US" sz="1350" dirty="0"/>
          </a:p>
          <a:p>
            <a:pPr marL="0" indent="0">
              <a:buNone/>
            </a:pPr>
            <a:r>
              <a:rPr lang="en-US" sz="1100" dirty="0">
                <a:solidFill>
                  <a:srgbClr val="5B6B58"/>
                </a:solidFill>
                <a:latin typeface="Calibri" pitchFamily="34" charset="0"/>
                <a:ea typeface="Calibri" pitchFamily="34" charset="-122"/>
                <a:cs typeface="Calibri" pitchFamily="34" charset="-120"/>
              </a:rPr>
              <a:t>the route is drawn with Leaflet on OpenStreetMap</a:t>
            </a:r>
            <a:endParaRPr lang="en-US" sz="1350" dirty="0"/>
          </a:p>
        </p:txBody>
      </p:sp>
      <p:sp>
        <p:nvSpPr>
          <p:cNvPr id="16" name="Shape 11"/>
          <p:cNvSpPr/>
          <p:nvPr/>
        </p:nvSpPr>
        <p:spPr>
          <a:xfrm>
            <a:off x="4800600" y="2514600"/>
            <a:ext cx="3977640" cy="1078992"/>
          </a:xfrm>
          <a:prstGeom prst="roundRect">
            <a:avLst>
              <a:gd name="adj" fmla="val 5085"/>
            </a:avLst>
          </a:prstGeom>
          <a:solidFill>
            <a:srgbClr val="F5F8F1"/>
          </a:solidFill>
          <a:ln/>
          <a:effectLst>
            <a:outerShdw blurRad="88900" dist="25400" dir="2700000" algn="bl" rotWithShape="0">
              <a:srgbClr val="000000">
                <a:alpha val="13000"/>
              </a:srgbClr>
            </a:outerShdw>
          </a:effectLst>
        </p:spPr>
        <p:txBody>
          <a:bodyPr/>
          <a:lstStyle/>
          <a:p>
            <a:endParaRPr lang="en-MK"/>
          </a:p>
        </p:txBody>
      </p:sp>
      <p:sp>
        <p:nvSpPr>
          <p:cNvPr id="17" name="Shape 12"/>
          <p:cNvSpPr/>
          <p:nvPr/>
        </p:nvSpPr>
        <p:spPr>
          <a:xfrm>
            <a:off x="4946904" y="2816352"/>
            <a:ext cx="475488" cy="475488"/>
          </a:xfrm>
          <a:prstGeom prst="ellipse">
            <a:avLst/>
          </a:prstGeom>
          <a:solidFill>
            <a:srgbClr val="EAF3E0"/>
          </a:solidFill>
          <a:ln/>
        </p:spPr>
        <p:txBody>
          <a:bodyPr/>
          <a:lstStyle/>
          <a:p>
            <a:endParaRPr lang="en-MK"/>
          </a:p>
        </p:txBody>
      </p:sp>
      <p:pic>
        <p:nvPicPr>
          <p:cNvPr id="18" name="Image 3" descr="preencoded.png"/>
          <p:cNvPicPr>
            <a:picLocks noChangeAspect="1"/>
          </p:cNvPicPr>
          <p:nvPr/>
        </p:nvPicPr>
        <p:blipFill>
          <a:blip r:embed="rId6"/>
          <a:stretch>
            <a:fillRect/>
          </a:stretch>
        </p:blipFill>
        <p:spPr>
          <a:xfrm>
            <a:off x="5051511" y="2920959"/>
            <a:ext cx="266273" cy="266273"/>
          </a:xfrm>
          <a:prstGeom prst="rect">
            <a:avLst/>
          </a:prstGeom>
        </p:spPr>
      </p:pic>
      <p:sp>
        <p:nvSpPr>
          <p:cNvPr id="19" name="Text 13"/>
          <p:cNvSpPr/>
          <p:nvPr/>
        </p:nvSpPr>
        <p:spPr>
          <a:xfrm>
            <a:off x="5550408" y="2624328"/>
            <a:ext cx="3108960" cy="896112"/>
          </a:xfrm>
          <a:prstGeom prst="rect">
            <a:avLst/>
          </a:prstGeom>
          <a:noFill/>
          <a:ln/>
        </p:spPr>
        <p:txBody>
          <a:bodyPr wrap="square" rtlCol="0" anchor="ctr"/>
          <a:lstStyle/>
          <a:p>
            <a:pPr marL="0" indent="0">
              <a:buNone/>
            </a:pPr>
            <a:r>
              <a:rPr lang="en-US" sz="1350" b="1" dirty="0">
                <a:solidFill>
                  <a:srgbClr val="22301F"/>
                </a:solidFill>
                <a:latin typeface="Calibri" pitchFamily="34" charset="0"/>
                <a:ea typeface="Calibri" pitchFamily="34" charset="-122"/>
                <a:cs typeface="Calibri" pitchFamily="34" charset="-120"/>
              </a:rPr>
              <a:t>Tour logs + computed values + images</a:t>
            </a:r>
            <a:endParaRPr lang="en-US" sz="1350" dirty="0"/>
          </a:p>
          <a:p>
            <a:pPr marL="0" indent="0">
              <a:buNone/>
            </a:pPr>
            <a:r>
              <a:rPr lang="en-US" sz="1100" dirty="0">
                <a:solidFill>
                  <a:srgbClr val="5B6B58"/>
                </a:solidFill>
                <a:latin typeface="Calibri" pitchFamily="34" charset="0"/>
                <a:ea typeface="Calibri" pitchFamily="34" charset="-122"/>
                <a:cs typeface="Calibri" pitchFamily="34" charset="-120"/>
              </a:rPr>
              <a:t>logs with rating and difficulty feed popularity and child friendliness</a:t>
            </a:r>
            <a:endParaRPr lang="en-US" sz="1350" dirty="0"/>
          </a:p>
        </p:txBody>
      </p:sp>
      <p:sp>
        <p:nvSpPr>
          <p:cNvPr id="20" name="Shape 14"/>
          <p:cNvSpPr/>
          <p:nvPr/>
        </p:nvSpPr>
        <p:spPr>
          <a:xfrm>
            <a:off x="502920" y="3794760"/>
            <a:ext cx="3977640" cy="1078992"/>
          </a:xfrm>
          <a:prstGeom prst="roundRect">
            <a:avLst>
              <a:gd name="adj" fmla="val 5085"/>
            </a:avLst>
          </a:prstGeom>
          <a:solidFill>
            <a:srgbClr val="F5F8F1"/>
          </a:solidFill>
          <a:ln/>
          <a:effectLst>
            <a:outerShdw blurRad="88900" dist="25400" dir="2700000" algn="bl" rotWithShape="0">
              <a:srgbClr val="000000">
                <a:alpha val="13000"/>
              </a:srgbClr>
            </a:outerShdw>
          </a:effectLst>
        </p:spPr>
        <p:txBody>
          <a:bodyPr/>
          <a:lstStyle/>
          <a:p>
            <a:endParaRPr lang="en-MK"/>
          </a:p>
        </p:txBody>
      </p:sp>
      <p:sp>
        <p:nvSpPr>
          <p:cNvPr id="21" name="Shape 15"/>
          <p:cNvSpPr/>
          <p:nvPr/>
        </p:nvSpPr>
        <p:spPr>
          <a:xfrm>
            <a:off x="649224" y="4096512"/>
            <a:ext cx="475488" cy="475488"/>
          </a:xfrm>
          <a:prstGeom prst="ellipse">
            <a:avLst/>
          </a:prstGeom>
          <a:solidFill>
            <a:srgbClr val="EAF3E0"/>
          </a:solidFill>
          <a:ln/>
        </p:spPr>
        <p:txBody>
          <a:bodyPr/>
          <a:lstStyle/>
          <a:p>
            <a:endParaRPr lang="en-MK"/>
          </a:p>
        </p:txBody>
      </p:sp>
      <p:pic>
        <p:nvPicPr>
          <p:cNvPr id="22" name="Image 4" descr="preencoded.png"/>
          <p:cNvPicPr>
            <a:picLocks noChangeAspect="1"/>
          </p:cNvPicPr>
          <p:nvPr/>
        </p:nvPicPr>
        <p:blipFill>
          <a:blip r:embed="rId7"/>
          <a:stretch>
            <a:fillRect/>
          </a:stretch>
        </p:blipFill>
        <p:spPr>
          <a:xfrm>
            <a:off x="753831" y="4201119"/>
            <a:ext cx="266273" cy="266273"/>
          </a:xfrm>
          <a:prstGeom prst="rect">
            <a:avLst/>
          </a:prstGeom>
        </p:spPr>
      </p:pic>
      <p:sp>
        <p:nvSpPr>
          <p:cNvPr id="23" name="Text 16"/>
          <p:cNvSpPr/>
          <p:nvPr/>
        </p:nvSpPr>
        <p:spPr>
          <a:xfrm>
            <a:off x="1252728" y="3904488"/>
            <a:ext cx="3108960" cy="896112"/>
          </a:xfrm>
          <a:prstGeom prst="rect">
            <a:avLst/>
          </a:prstGeom>
          <a:noFill/>
          <a:ln/>
        </p:spPr>
        <p:txBody>
          <a:bodyPr wrap="square" rtlCol="0" anchor="ctr"/>
          <a:lstStyle/>
          <a:p>
            <a:pPr marL="0" indent="0">
              <a:buNone/>
            </a:pPr>
            <a:r>
              <a:rPr lang="en-US" sz="1350" b="1" dirty="0">
                <a:solidFill>
                  <a:srgbClr val="22301F"/>
                </a:solidFill>
                <a:latin typeface="Calibri" pitchFamily="34" charset="0"/>
                <a:ea typeface="Calibri" pitchFamily="34" charset="-122"/>
                <a:cs typeface="Calibri" pitchFamily="34" charset="-120"/>
              </a:rPr>
              <a:t>Full-text search</a:t>
            </a:r>
            <a:endParaRPr lang="en-US" sz="1350" dirty="0"/>
          </a:p>
          <a:p>
            <a:pPr marL="0" indent="0">
              <a:buNone/>
            </a:pPr>
            <a:r>
              <a:rPr lang="en-US" sz="1100" dirty="0">
                <a:solidFill>
                  <a:srgbClr val="5B6B58"/>
                </a:solidFill>
                <a:latin typeface="Calibri" pitchFamily="34" charset="0"/>
                <a:ea typeface="Calibri" pitchFamily="34" charset="-122"/>
                <a:cs typeface="Calibri" pitchFamily="34" charset="-120"/>
              </a:rPr>
              <a:t>one search box covers tours, locations and log comments</a:t>
            </a:r>
            <a:endParaRPr lang="en-US" sz="1350" dirty="0"/>
          </a:p>
        </p:txBody>
      </p:sp>
      <p:sp>
        <p:nvSpPr>
          <p:cNvPr id="24" name="Shape 17"/>
          <p:cNvSpPr/>
          <p:nvPr/>
        </p:nvSpPr>
        <p:spPr>
          <a:xfrm>
            <a:off x="4800600" y="3794760"/>
            <a:ext cx="3977640" cy="1078992"/>
          </a:xfrm>
          <a:prstGeom prst="roundRect">
            <a:avLst>
              <a:gd name="adj" fmla="val 5085"/>
            </a:avLst>
          </a:prstGeom>
          <a:solidFill>
            <a:srgbClr val="F5F8F1"/>
          </a:solidFill>
          <a:ln/>
          <a:effectLst>
            <a:outerShdw blurRad="88900" dist="25400" dir="2700000" algn="bl" rotWithShape="0">
              <a:srgbClr val="000000">
                <a:alpha val="13000"/>
              </a:srgbClr>
            </a:outerShdw>
          </a:effectLst>
        </p:spPr>
        <p:txBody>
          <a:bodyPr/>
          <a:lstStyle/>
          <a:p>
            <a:endParaRPr lang="en-MK"/>
          </a:p>
        </p:txBody>
      </p:sp>
      <p:sp>
        <p:nvSpPr>
          <p:cNvPr id="25" name="Shape 18"/>
          <p:cNvSpPr/>
          <p:nvPr/>
        </p:nvSpPr>
        <p:spPr>
          <a:xfrm>
            <a:off x="4946904" y="4096512"/>
            <a:ext cx="475488" cy="475488"/>
          </a:xfrm>
          <a:prstGeom prst="ellipse">
            <a:avLst/>
          </a:prstGeom>
          <a:solidFill>
            <a:srgbClr val="EAF3E0"/>
          </a:solidFill>
          <a:ln/>
        </p:spPr>
        <p:txBody>
          <a:bodyPr/>
          <a:lstStyle/>
          <a:p>
            <a:endParaRPr lang="en-MK"/>
          </a:p>
        </p:txBody>
      </p:sp>
      <p:pic>
        <p:nvPicPr>
          <p:cNvPr id="26" name="Image 5" descr="preencoded.png"/>
          <p:cNvPicPr>
            <a:picLocks noChangeAspect="1"/>
          </p:cNvPicPr>
          <p:nvPr/>
        </p:nvPicPr>
        <p:blipFill>
          <a:blip r:embed="rId8"/>
          <a:stretch>
            <a:fillRect/>
          </a:stretch>
        </p:blipFill>
        <p:spPr>
          <a:xfrm>
            <a:off x="5051511" y="4201119"/>
            <a:ext cx="266273" cy="266273"/>
          </a:xfrm>
          <a:prstGeom prst="rect">
            <a:avLst/>
          </a:prstGeom>
        </p:spPr>
      </p:pic>
      <p:sp>
        <p:nvSpPr>
          <p:cNvPr id="27" name="Text 19"/>
          <p:cNvSpPr/>
          <p:nvPr/>
        </p:nvSpPr>
        <p:spPr>
          <a:xfrm>
            <a:off x="5550408" y="3904488"/>
            <a:ext cx="3108960" cy="896112"/>
          </a:xfrm>
          <a:prstGeom prst="rect">
            <a:avLst/>
          </a:prstGeom>
          <a:noFill/>
          <a:ln/>
        </p:spPr>
        <p:txBody>
          <a:bodyPr wrap="square" rtlCol="0" anchor="ctr"/>
          <a:lstStyle/>
          <a:p>
            <a:pPr marL="0" indent="0">
              <a:buNone/>
            </a:pPr>
            <a:r>
              <a:rPr lang="en-US" sz="1350" b="1" dirty="0">
                <a:solidFill>
                  <a:srgbClr val="22301F"/>
                </a:solidFill>
                <a:latin typeface="Calibri" pitchFamily="34" charset="0"/>
                <a:ea typeface="Calibri" pitchFamily="34" charset="-122"/>
                <a:cs typeface="Calibri" pitchFamily="34" charset="-120"/>
              </a:rPr>
              <a:t>Import and export</a:t>
            </a:r>
            <a:endParaRPr lang="en-US" sz="1350" dirty="0"/>
          </a:p>
          <a:p>
            <a:pPr marL="0" indent="0">
              <a:buNone/>
            </a:pPr>
            <a:r>
              <a:rPr lang="en-US" sz="1100" dirty="0">
                <a:solidFill>
                  <a:srgbClr val="5B6B58"/>
                </a:solidFill>
                <a:latin typeface="Calibri" pitchFamily="34" charset="0"/>
                <a:ea typeface="Calibri" pitchFamily="34" charset="-122"/>
                <a:cs typeface="Calibri" pitchFamily="34" charset="-120"/>
              </a:rPr>
              <a:t>tours travel as a JSON file, plus an image gallery per tour</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C5F2D"/>
        </a:solidFill>
        <a:effectLst/>
      </p:bgPr>
    </p:bg>
    <p:spTree>
      <p:nvGrpSpPr>
        <p:cNvPr id="1" name=""/>
        <p:cNvGrpSpPr/>
        <p:nvPr/>
      </p:nvGrpSpPr>
      <p:grpSpPr>
        <a:xfrm>
          <a:off x="0" y="0"/>
          <a:ext cx="0" cy="0"/>
          <a:chOff x="0" y="0"/>
          <a:chExt cx="0" cy="0"/>
        </a:xfrm>
      </p:grpSpPr>
      <p:sp>
        <p:nvSpPr>
          <p:cNvPr id="2" name="Shape 0"/>
          <p:cNvSpPr/>
          <p:nvPr/>
        </p:nvSpPr>
        <p:spPr>
          <a:xfrm>
            <a:off x="4069080" y="685800"/>
            <a:ext cx="1005840" cy="1005840"/>
          </a:xfrm>
          <a:prstGeom prst="ellipse">
            <a:avLst/>
          </a:prstGeom>
          <a:solidFill>
            <a:srgbClr val="97BC62"/>
          </a:solidFill>
          <a:ln/>
        </p:spPr>
        <p:txBody>
          <a:bodyPr/>
          <a:lstStyle/>
          <a:p>
            <a:endParaRPr lang="en-MK"/>
          </a:p>
        </p:txBody>
      </p:sp>
      <p:pic>
        <p:nvPicPr>
          <p:cNvPr id="3" name="Image 0" descr="preencoded.png"/>
          <p:cNvPicPr>
            <a:picLocks noChangeAspect="1"/>
          </p:cNvPicPr>
          <p:nvPr/>
        </p:nvPicPr>
        <p:blipFill>
          <a:blip r:embed="rId3"/>
          <a:stretch>
            <a:fillRect/>
          </a:stretch>
        </p:blipFill>
        <p:spPr>
          <a:xfrm>
            <a:off x="4370832" y="978408"/>
            <a:ext cx="411480" cy="411480"/>
          </a:xfrm>
          <a:prstGeom prst="rect">
            <a:avLst/>
          </a:prstGeom>
        </p:spPr>
      </p:pic>
      <p:sp>
        <p:nvSpPr>
          <p:cNvPr id="4" name="Text 1"/>
          <p:cNvSpPr/>
          <p:nvPr/>
        </p:nvSpPr>
        <p:spPr>
          <a:xfrm>
            <a:off x="914400" y="1874520"/>
            <a:ext cx="7315200" cy="640080"/>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Live demo</a:t>
            </a:r>
            <a:endParaRPr lang="en-US" sz="4000" dirty="0"/>
          </a:p>
        </p:txBody>
      </p:sp>
      <p:sp>
        <p:nvSpPr>
          <p:cNvPr id="5" name="Text 2"/>
          <p:cNvSpPr/>
          <p:nvPr/>
        </p:nvSpPr>
        <p:spPr>
          <a:xfrm>
            <a:off x="822960" y="2743200"/>
            <a:ext cx="7498080" cy="1280160"/>
          </a:xfrm>
          <a:prstGeom prst="rect">
            <a:avLst/>
          </a:prstGeom>
          <a:noFill/>
          <a:ln/>
        </p:spPr>
        <p:txBody>
          <a:bodyPr wrap="square" rtlCol="0" anchor="ctr"/>
          <a:lstStyle/>
          <a:p>
            <a:pPr marL="0" indent="0" algn="ctr">
              <a:spcAft>
                <a:spcPts val="800"/>
              </a:spcAft>
              <a:buNone/>
            </a:pPr>
            <a:r>
              <a:rPr lang="en-US" sz="1450" dirty="0">
                <a:solidFill>
                  <a:srgbClr val="EAF3E0"/>
                </a:solidFill>
                <a:latin typeface="Calibri" pitchFamily="34" charset="0"/>
                <a:ea typeface="Calibri" pitchFamily="34" charset="-122"/>
                <a:cs typeface="Calibri" pitchFamily="34" charset="-120"/>
              </a:rPr>
              <a:t>register + login      create a tour, watch the route appear on the map</a:t>
            </a:r>
            <a:endParaRPr lang="en-US" sz="1450" dirty="0"/>
          </a:p>
          <a:p>
            <a:pPr marL="0" indent="0" algn="ctr">
              <a:spcAft>
                <a:spcPts val="800"/>
              </a:spcAft>
              <a:buNone/>
            </a:pPr>
            <a:r>
              <a:rPr lang="en-US" sz="1450" dirty="0">
                <a:solidFill>
                  <a:srgbClr val="EAF3E0"/>
                </a:solidFill>
                <a:latin typeface="Calibri" pitchFamily="34" charset="0"/>
                <a:ea typeface="Calibri" pitchFamily="34" charset="-122"/>
                <a:cs typeface="Calibri" pitchFamily="34" charset="-120"/>
              </a:rPr>
              <a:t>add tour logs      computed badges update      upload a photo, flip the gallery</a:t>
            </a:r>
            <a:endParaRPr lang="en-US" sz="1450" dirty="0"/>
          </a:p>
          <a:p>
            <a:pPr marL="0" indent="0" algn="ctr">
              <a:spcAft>
                <a:spcPts val="800"/>
              </a:spcAft>
              <a:buNone/>
            </a:pPr>
            <a:r>
              <a:rPr lang="en-US" sz="1450" dirty="0">
                <a:solidFill>
                  <a:srgbClr val="EAF3E0"/>
                </a:solidFill>
                <a:latin typeface="Calibri" pitchFamily="34" charset="0"/>
                <a:ea typeface="Calibri" pitchFamily="34" charset="-122"/>
                <a:cs typeface="Calibri" pitchFamily="34" charset="-120"/>
              </a:rPr>
              <a:t>search across everything      export to JSON and import it back</a:t>
            </a:r>
            <a:endParaRPr lang="en-US" sz="1450" dirty="0"/>
          </a:p>
        </p:txBody>
      </p:sp>
      <p:sp>
        <p:nvSpPr>
          <p:cNvPr id="6" name="Text 3"/>
          <p:cNvSpPr/>
          <p:nvPr/>
        </p:nvSpPr>
        <p:spPr>
          <a:xfrm>
            <a:off x="914400" y="4343400"/>
            <a:ext cx="7315200" cy="274320"/>
          </a:xfrm>
          <a:prstGeom prst="rect">
            <a:avLst/>
          </a:prstGeom>
          <a:noFill/>
          <a:ln/>
        </p:spPr>
        <p:txBody>
          <a:bodyPr wrap="square" rtlCol="0" anchor="ctr"/>
          <a:lstStyle/>
          <a:p>
            <a:pPr marL="0" indent="0" algn="ctr">
              <a:buNone/>
            </a:pPr>
            <a:r>
              <a:rPr lang="en-US" sz="1100" i="1" dirty="0">
                <a:solidFill>
                  <a:srgbClr val="97BC62"/>
                </a:solidFill>
              </a:rPr>
              <a:t>app is already running on this machine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8138160" cy="566928"/>
          </a:xfrm>
          <a:prstGeom prst="rect">
            <a:avLst/>
          </a:prstGeom>
          <a:noFill/>
          <a:ln/>
        </p:spPr>
        <p:txBody>
          <a:bodyPr wrap="square" lIns="0" tIns="0" rIns="0" bIns="0" rtlCol="0" anchor="ctr"/>
          <a:lstStyle/>
          <a:p>
            <a:pPr marL="0" indent="0">
              <a:buNone/>
            </a:pPr>
            <a:r>
              <a:rPr lang="en-US" sz="3000" b="1" dirty="0">
                <a:solidFill>
                  <a:srgbClr val="2C5F2D"/>
                </a:solidFill>
                <a:latin typeface="Cambria" pitchFamily="34" charset="0"/>
                <a:ea typeface="Cambria" pitchFamily="34" charset="-122"/>
                <a:cs typeface="Cambria" pitchFamily="34" charset="-120"/>
              </a:rPr>
              <a:t>Architecture</a:t>
            </a:r>
            <a:endParaRPr lang="en-US" sz="3000" dirty="0"/>
          </a:p>
        </p:txBody>
      </p:sp>
      <p:sp>
        <p:nvSpPr>
          <p:cNvPr id="3" name="Text 1"/>
          <p:cNvSpPr/>
          <p:nvPr/>
        </p:nvSpPr>
        <p:spPr>
          <a:xfrm>
            <a:off x="502920" y="786384"/>
            <a:ext cx="8138160" cy="320040"/>
          </a:xfrm>
          <a:prstGeom prst="rect">
            <a:avLst/>
          </a:prstGeom>
          <a:noFill/>
          <a:ln/>
        </p:spPr>
        <p:txBody>
          <a:bodyPr wrap="square" lIns="0" tIns="0" rIns="0" bIns="0" rtlCol="0" anchor="ctr"/>
          <a:lstStyle/>
          <a:p>
            <a:pPr marL="0" indent="0">
              <a:buNone/>
            </a:pPr>
            <a:r>
              <a:rPr lang="en-US" sz="1300" i="1" dirty="0">
                <a:solidFill>
                  <a:srgbClr val="5B6B58"/>
                </a:solidFill>
                <a:latin typeface="Calibri" pitchFamily="34" charset="0"/>
                <a:ea typeface="Calibri" pitchFamily="34" charset="-122"/>
                <a:cs typeface="Calibri" pitchFamily="34" charset="-120"/>
              </a:rPr>
              <a:t>two tiers, three layers on each side, one job per layer</a:t>
            </a:r>
            <a:endParaRPr lang="en-US" sz="1300" dirty="0"/>
          </a:p>
        </p:txBody>
      </p:sp>
      <p:pic>
        <p:nvPicPr>
          <p:cNvPr id="4" name="Image 0" descr="/home/claude/diagrams/architecture.png"/>
          <p:cNvPicPr>
            <a:picLocks noChangeAspect="1"/>
          </p:cNvPicPr>
          <p:nvPr/>
        </p:nvPicPr>
        <p:blipFill>
          <a:blip r:embed="rId3"/>
          <a:stretch>
            <a:fillRect/>
          </a:stretch>
        </p:blipFill>
        <p:spPr>
          <a:xfrm>
            <a:off x="1051560" y="1234440"/>
            <a:ext cx="7040880" cy="3099816"/>
          </a:xfrm>
          <a:prstGeom prst="rect">
            <a:avLst/>
          </a:prstGeom>
        </p:spPr>
      </p:pic>
      <p:sp>
        <p:nvSpPr>
          <p:cNvPr id="5" name="Text 2"/>
          <p:cNvSpPr/>
          <p:nvPr/>
        </p:nvSpPr>
        <p:spPr>
          <a:xfrm>
            <a:off x="502920" y="4526280"/>
            <a:ext cx="8138160" cy="320040"/>
          </a:xfrm>
          <a:prstGeom prst="rect">
            <a:avLst/>
          </a:prstGeom>
          <a:noFill/>
          <a:ln/>
        </p:spPr>
        <p:txBody>
          <a:bodyPr wrap="square" rtlCol="0" anchor="ctr"/>
          <a:lstStyle/>
          <a:p>
            <a:pPr marL="0" indent="0" algn="ctr">
              <a:buNone/>
            </a:pPr>
            <a:r>
              <a:rPr lang="en-US" sz="1250" i="1" dirty="0">
                <a:solidFill>
                  <a:srgbClr val="5B6B58"/>
                </a:solidFill>
                <a:latin typeface="Calibri" pitchFamily="34" charset="0"/>
                <a:ea typeface="Calibri" pitchFamily="34" charset="-122"/>
                <a:cs typeface="Calibri" pitchFamily="34" charset="-120"/>
              </a:rPr>
              <a:t>each layer only talks to the layer directly below it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8138160" cy="566928"/>
          </a:xfrm>
          <a:prstGeom prst="rect">
            <a:avLst/>
          </a:prstGeom>
          <a:noFill/>
          <a:ln/>
        </p:spPr>
        <p:txBody>
          <a:bodyPr wrap="square" lIns="0" tIns="0" rIns="0" bIns="0" rtlCol="0" anchor="ctr"/>
          <a:lstStyle/>
          <a:p>
            <a:pPr marL="0" indent="0">
              <a:buNone/>
            </a:pPr>
            <a:r>
              <a:rPr lang="en-US" sz="3000" b="1" dirty="0">
                <a:solidFill>
                  <a:srgbClr val="2C5F2D"/>
                </a:solidFill>
                <a:latin typeface="Cambria" pitchFamily="34" charset="0"/>
                <a:ea typeface="Cambria" pitchFamily="34" charset="-122"/>
                <a:cs typeface="Cambria" pitchFamily="34" charset="-120"/>
              </a:rPr>
              <a:t>Backend up close</a:t>
            </a:r>
            <a:endParaRPr lang="en-US" sz="3000" dirty="0"/>
          </a:p>
        </p:txBody>
      </p:sp>
      <p:sp>
        <p:nvSpPr>
          <p:cNvPr id="3" name="Text 1"/>
          <p:cNvSpPr/>
          <p:nvPr/>
        </p:nvSpPr>
        <p:spPr>
          <a:xfrm>
            <a:off x="502920" y="786384"/>
            <a:ext cx="8138160" cy="320040"/>
          </a:xfrm>
          <a:prstGeom prst="rect">
            <a:avLst/>
          </a:prstGeom>
          <a:noFill/>
          <a:ln/>
        </p:spPr>
        <p:txBody>
          <a:bodyPr wrap="square" lIns="0" tIns="0" rIns="0" bIns="0" rtlCol="0" anchor="ctr"/>
          <a:lstStyle/>
          <a:p>
            <a:pPr marL="0" indent="0">
              <a:buNone/>
            </a:pPr>
            <a:r>
              <a:rPr lang="en-US" sz="1300" i="1" dirty="0">
                <a:solidFill>
                  <a:srgbClr val="5B6B58"/>
                </a:solidFill>
                <a:latin typeface="Calibri" pitchFamily="34" charset="0"/>
                <a:ea typeface="Calibri" pitchFamily="34" charset="-122"/>
                <a:cs typeface="Calibri" pitchFamily="34" charset="-120"/>
              </a:rPr>
              <a:t>the class diagram mirrors the layer rule</a:t>
            </a:r>
            <a:endParaRPr lang="en-US" sz="1300" dirty="0"/>
          </a:p>
        </p:txBody>
      </p:sp>
      <p:pic>
        <p:nvPicPr>
          <p:cNvPr id="4" name="Image 0" descr="/home/claude/diagrams/class_diagram.png"/>
          <p:cNvPicPr>
            <a:picLocks noChangeAspect="1"/>
          </p:cNvPicPr>
          <p:nvPr/>
        </p:nvPicPr>
        <p:blipFill>
          <a:blip r:embed="rId3"/>
          <a:stretch>
            <a:fillRect/>
          </a:stretch>
        </p:blipFill>
        <p:spPr>
          <a:xfrm>
            <a:off x="457200" y="1188720"/>
            <a:ext cx="4892040" cy="3749040"/>
          </a:xfrm>
          <a:prstGeom prst="rect">
            <a:avLst/>
          </a:prstGeom>
        </p:spPr>
      </p:pic>
      <p:sp>
        <p:nvSpPr>
          <p:cNvPr id="5" name="Shape 2"/>
          <p:cNvSpPr/>
          <p:nvPr/>
        </p:nvSpPr>
        <p:spPr>
          <a:xfrm>
            <a:off x="5532120" y="1371600"/>
            <a:ext cx="420624" cy="420624"/>
          </a:xfrm>
          <a:prstGeom prst="ellipse">
            <a:avLst/>
          </a:prstGeom>
          <a:solidFill>
            <a:srgbClr val="EAF3E0"/>
          </a:solidFill>
          <a:ln/>
        </p:spPr>
        <p:txBody>
          <a:bodyPr/>
          <a:lstStyle/>
          <a:p>
            <a:endParaRPr lang="en-MK"/>
          </a:p>
        </p:txBody>
      </p:sp>
      <p:pic>
        <p:nvPicPr>
          <p:cNvPr id="6" name="Image 1" descr="preencoded.png"/>
          <p:cNvPicPr>
            <a:picLocks noChangeAspect="1"/>
          </p:cNvPicPr>
          <p:nvPr/>
        </p:nvPicPr>
        <p:blipFill>
          <a:blip r:embed="rId4"/>
          <a:stretch>
            <a:fillRect/>
          </a:stretch>
        </p:blipFill>
        <p:spPr>
          <a:xfrm>
            <a:off x="5624657" y="1464137"/>
            <a:ext cx="235549" cy="235549"/>
          </a:xfrm>
          <a:prstGeom prst="rect">
            <a:avLst/>
          </a:prstGeom>
        </p:spPr>
      </p:pic>
      <p:sp>
        <p:nvSpPr>
          <p:cNvPr id="7" name="Text 3"/>
          <p:cNvSpPr/>
          <p:nvPr/>
        </p:nvSpPr>
        <p:spPr>
          <a:xfrm>
            <a:off x="6053328" y="1298448"/>
            <a:ext cx="2743200" cy="868680"/>
          </a:xfrm>
          <a:prstGeom prst="rect">
            <a:avLst/>
          </a:prstGeom>
          <a:noFill/>
          <a:ln/>
        </p:spPr>
        <p:txBody>
          <a:bodyPr wrap="square" rtlCol="0" anchor="t"/>
          <a:lstStyle/>
          <a:p>
            <a:pPr marL="0" indent="0">
              <a:buNone/>
            </a:pPr>
            <a:r>
              <a:rPr lang="en-US" sz="1300" b="1" dirty="0">
                <a:solidFill>
                  <a:srgbClr val="22301F"/>
                </a:solidFill>
                <a:latin typeface="Calibri" pitchFamily="34" charset="0"/>
                <a:ea typeface="Calibri" pitchFamily="34" charset="-122"/>
                <a:cs typeface="Calibri" pitchFamily="34" charset="-120"/>
              </a:rPr>
              <a:t>controllers stay thin</a:t>
            </a:r>
            <a:endParaRPr lang="en-US" sz="1300" dirty="0"/>
          </a:p>
          <a:p>
            <a:pPr marL="0" indent="0">
              <a:buNone/>
            </a:pPr>
            <a:r>
              <a:rPr lang="en-US" sz="1100" dirty="0">
                <a:solidFill>
                  <a:srgbClr val="5B6B58"/>
                </a:solidFill>
                <a:latin typeface="Calibri" pitchFamily="34" charset="0"/>
                <a:ea typeface="Calibri" pitchFamily="34" charset="-122"/>
                <a:cs typeface="Calibri" pitchFamily="34" charset="-120"/>
              </a:rPr>
              <a:t>they validate input and forward, no logic inside</a:t>
            </a:r>
            <a:endParaRPr lang="en-US" sz="1300" dirty="0"/>
          </a:p>
        </p:txBody>
      </p:sp>
      <p:sp>
        <p:nvSpPr>
          <p:cNvPr id="8" name="Shape 4"/>
          <p:cNvSpPr/>
          <p:nvPr/>
        </p:nvSpPr>
        <p:spPr>
          <a:xfrm>
            <a:off x="5532120" y="2286000"/>
            <a:ext cx="420624" cy="420624"/>
          </a:xfrm>
          <a:prstGeom prst="ellipse">
            <a:avLst/>
          </a:prstGeom>
          <a:solidFill>
            <a:srgbClr val="EAF3E0"/>
          </a:solidFill>
          <a:ln/>
        </p:spPr>
        <p:txBody>
          <a:bodyPr/>
          <a:lstStyle/>
          <a:p>
            <a:endParaRPr lang="en-MK"/>
          </a:p>
        </p:txBody>
      </p:sp>
      <p:pic>
        <p:nvPicPr>
          <p:cNvPr id="9" name="Image 2" descr="preencoded.png"/>
          <p:cNvPicPr>
            <a:picLocks noChangeAspect="1"/>
          </p:cNvPicPr>
          <p:nvPr/>
        </p:nvPicPr>
        <p:blipFill>
          <a:blip r:embed="rId5"/>
          <a:stretch>
            <a:fillRect/>
          </a:stretch>
        </p:blipFill>
        <p:spPr>
          <a:xfrm>
            <a:off x="5624657" y="2378537"/>
            <a:ext cx="235549" cy="235549"/>
          </a:xfrm>
          <a:prstGeom prst="rect">
            <a:avLst/>
          </a:prstGeom>
        </p:spPr>
      </p:pic>
      <p:sp>
        <p:nvSpPr>
          <p:cNvPr id="10" name="Text 5"/>
          <p:cNvSpPr/>
          <p:nvPr/>
        </p:nvSpPr>
        <p:spPr>
          <a:xfrm>
            <a:off x="6053328" y="2212848"/>
            <a:ext cx="2743200" cy="868680"/>
          </a:xfrm>
          <a:prstGeom prst="rect">
            <a:avLst/>
          </a:prstGeom>
          <a:noFill/>
          <a:ln/>
        </p:spPr>
        <p:txBody>
          <a:bodyPr wrap="square" rtlCol="0" anchor="t"/>
          <a:lstStyle/>
          <a:p>
            <a:pPr marL="0" indent="0">
              <a:buNone/>
            </a:pPr>
            <a:r>
              <a:rPr lang="en-US" sz="1300" b="1" dirty="0">
                <a:solidFill>
                  <a:srgbClr val="22301F"/>
                </a:solidFill>
                <a:latin typeface="Calibri" pitchFamily="34" charset="0"/>
                <a:ea typeface="Calibri" pitchFamily="34" charset="-122"/>
                <a:cs typeface="Calibri" pitchFamily="34" charset="-120"/>
              </a:rPr>
              <a:t>services hold the rules</a:t>
            </a:r>
            <a:endParaRPr lang="en-US" sz="1300" dirty="0"/>
          </a:p>
          <a:p>
            <a:pPr marL="0" indent="0">
              <a:buNone/>
            </a:pPr>
            <a:r>
              <a:rPr lang="en-US" sz="1100" dirty="0">
                <a:solidFill>
                  <a:srgbClr val="5B6B58"/>
                </a:solidFill>
                <a:latin typeface="Calibri" pitchFamily="34" charset="0"/>
                <a:ea typeface="Calibri" pitchFamily="34" charset="-122"/>
                <a:cs typeface="Calibri" pitchFamily="34" charset="-120"/>
              </a:rPr>
              <a:t>ownership checks, computed values, route calls</a:t>
            </a:r>
            <a:endParaRPr lang="en-US" sz="1300" dirty="0"/>
          </a:p>
        </p:txBody>
      </p:sp>
      <p:sp>
        <p:nvSpPr>
          <p:cNvPr id="11" name="Shape 6"/>
          <p:cNvSpPr/>
          <p:nvPr/>
        </p:nvSpPr>
        <p:spPr>
          <a:xfrm>
            <a:off x="5532120" y="3200400"/>
            <a:ext cx="420624" cy="420624"/>
          </a:xfrm>
          <a:prstGeom prst="ellipse">
            <a:avLst/>
          </a:prstGeom>
          <a:solidFill>
            <a:srgbClr val="EAF3E0"/>
          </a:solidFill>
          <a:ln/>
        </p:spPr>
        <p:txBody>
          <a:bodyPr/>
          <a:lstStyle/>
          <a:p>
            <a:endParaRPr lang="en-MK"/>
          </a:p>
        </p:txBody>
      </p:sp>
      <p:pic>
        <p:nvPicPr>
          <p:cNvPr id="12" name="Image 3" descr="preencoded.png"/>
          <p:cNvPicPr>
            <a:picLocks noChangeAspect="1"/>
          </p:cNvPicPr>
          <p:nvPr/>
        </p:nvPicPr>
        <p:blipFill>
          <a:blip r:embed="rId6"/>
          <a:stretch>
            <a:fillRect/>
          </a:stretch>
        </p:blipFill>
        <p:spPr>
          <a:xfrm>
            <a:off x="5624657" y="3292937"/>
            <a:ext cx="235549" cy="235549"/>
          </a:xfrm>
          <a:prstGeom prst="rect">
            <a:avLst/>
          </a:prstGeom>
        </p:spPr>
      </p:pic>
      <p:sp>
        <p:nvSpPr>
          <p:cNvPr id="13" name="Text 7"/>
          <p:cNvSpPr/>
          <p:nvPr/>
        </p:nvSpPr>
        <p:spPr>
          <a:xfrm>
            <a:off x="6053328" y="3127248"/>
            <a:ext cx="2743200" cy="868680"/>
          </a:xfrm>
          <a:prstGeom prst="rect">
            <a:avLst/>
          </a:prstGeom>
          <a:noFill/>
          <a:ln/>
        </p:spPr>
        <p:txBody>
          <a:bodyPr wrap="square" rtlCol="0" anchor="t"/>
          <a:lstStyle/>
          <a:p>
            <a:pPr marL="0" indent="0">
              <a:buNone/>
            </a:pPr>
            <a:r>
              <a:rPr lang="en-US" sz="1300" b="1" dirty="0">
                <a:solidFill>
                  <a:srgbClr val="22301F"/>
                </a:solidFill>
                <a:latin typeface="Calibri" pitchFamily="34" charset="0"/>
                <a:ea typeface="Calibri" pitchFamily="34" charset="-122"/>
                <a:cs typeface="Calibri" pitchFamily="34" charset="-120"/>
              </a:rPr>
              <a:t>repositories are interfaces</a:t>
            </a:r>
            <a:endParaRPr lang="en-US" sz="1300" dirty="0"/>
          </a:p>
          <a:p>
            <a:pPr marL="0" indent="0">
              <a:buNone/>
            </a:pPr>
            <a:r>
              <a:rPr lang="en-US" sz="1100" dirty="0">
                <a:solidFill>
                  <a:srgbClr val="5B6B58"/>
                </a:solidFill>
                <a:latin typeface="Calibri" pitchFamily="34" charset="0"/>
                <a:ea typeface="Calibri" pitchFamily="34" charset="-122"/>
                <a:cs typeface="Calibri" pitchFamily="34" charset="-120"/>
              </a:rPr>
              <a:t>Spring generates the queries, JPQL only, so no SQL injection</a:t>
            </a:r>
            <a:endParaRPr lang="en-US" sz="1300" dirty="0"/>
          </a:p>
        </p:txBody>
      </p:sp>
      <p:sp>
        <p:nvSpPr>
          <p:cNvPr id="14" name="Shape 8"/>
          <p:cNvSpPr/>
          <p:nvPr/>
        </p:nvSpPr>
        <p:spPr>
          <a:xfrm>
            <a:off x="5532120" y="4114800"/>
            <a:ext cx="420624" cy="420624"/>
          </a:xfrm>
          <a:prstGeom prst="ellipse">
            <a:avLst/>
          </a:prstGeom>
          <a:solidFill>
            <a:srgbClr val="EAF3E0"/>
          </a:solidFill>
          <a:ln/>
        </p:spPr>
        <p:txBody>
          <a:bodyPr/>
          <a:lstStyle/>
          <a:p>
            <a:endParaRPr lang="en-MK"/>
          </a:p>
        </p:txBody>
      </p:sp>
      <p:pic>
        <p:nvPicPr>
          <p:cNvPr id="15" name="Image 4" descr="preencoded.png"/>
          <p:cNvPicPr>
            <a:picLocks noChangeAspect="1"/>
          </p:cNvPicPr>
          <p:nvPr/>
        </p:nvPicPr>
        <p:blipFill>
          <a:blip r:embed="rId7"/>
          <a:stretch>
            <a:fillRect/>
          </a:stretch>
        </p:blipFill>
        <p:spPr>
          <a:xfrm>
            <a:off x="5624657" y="4207337"/>
            <a:ext cx="235549" cy="235549"/>
          </a:xfrm>
          <a:prstGeom prst="rect">
            <a:avLst/>
          </a:prstGeom>
        </p:spPr>
      </p:pic>
      <p:sp>
        <p:nvSpPr>
          <p:cNvPr id="16" name="Text 9"/>
          <p:cNvSpPr/>
          <p:nvPr/>
        </p:nvSpPr>
        <p:spPr>
          <a:xfrm>
            <a:off x="6053328" y="4041648"/>
            <a:ext cx="2743200" cy="868680"/>
          </a:xfrm>
          <a:prstGeom prst="rect">
            <a:avLst/>
          </a:prstGeom>
          <a:noFill/>
          <a:ln/>
        </p:spPr>
        <p:txBody>
          <a:bodyPr wrap="square" rtlCol="0" anchor="t"/>
          <a:lstStyle/>
          <a:p>
            <a:pPr marL="0" indent="0">
              <a:buNone/>
            </a:pPr>
            <a:r>
              <a:rPr lang="en-US" sz="1300" b="1" dirty="0">
                <a:solidFill>
                  <a:srgbClr val="22301F"/>
                </a:solidFill>
                <a:latin typeface="Calibri" pitchFamily="34" charset="0"/>
                <a:ea typeface="Calibri" pitchFamily="34" charset="-122"/>
                <a:cs typeface="Calibri" pitchFamily="34" charset="-120"/>
              </a:rPr>
              <a:t>DTOs at the border</a:t>
            </a:r>
            <a:endParaRPr lang="en-US" sz="1300" dirty="0"/>
          </a:p>
          <a:p>
            <a:pPr marL="0" indent="0">
              <a:buNone/>
            </a:pPr>
            <a:r>
              <a:rPr lang="en-US" sz="1100" dirty="0">
                <a:solidFill>
                  <a:srgbClr val="5B6B58"/>
                </a:solidFill>
                <a:latin typeface="Calibri" pitchFamily="34" charset="0"/>
                <a:ea typeface="Calibri" pitchFamily="34" charset="-122"/>
                <a:cs typeface="Calibri" pitchFamily="34" charset="-120"/>
              </a:rPr>
              <a:t>entities never leave the backend, JSON shapes do</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8138160" cy="566928"/>
          </a:xfrm>
          <a:prstGeom prst="rect">
            <a:avLst/>
          </a:prstGeom>
          <a:noFill/>
          <a:ln/>
        </p:spPr>
        <p:txBody>
          <a:bodyPr wrap="square" lIns="0" tIns="0" rIns="0" bIns="0" rtlCol="0" anchor="ctr"/>
          <a:lstStyle/>
          <a:p>
            <a:pPr marL="0" indent="0">
              <a:buNone/>
            </a:pPr>
            <a:r>
              <a:rPr lang="en-US" sz="3000" b="1" dirty="0">
                <a:solidFill>
                  <a:srgbClr val="2C5F2D"/>
                </a:solidFill>
                <a:latin typeface="Cambria" pitchFamily="34" charset="0"/>
                <a:ea typeface="Cambria" pitchFamily="34" charset="-122"/>
                <a:cs typeface="Cambria" pitchFamily="34" charset="-120"/>
              </a:rPr>
              <a:t>Full-text search, through every layer</a:t>
            </a:r>
            <a:endParaRPr lang="en-US" sz="3000" dirty="0"/>
          </a:p>
        </p:txBody>
      </p:sp>
      <p:sp>
        <p:nvSpPr>
          <p:cNvPr id="3" name="Text 1"/>
          <p:cNvSpPr/>
          <p:nvPr/>
        </p:nvSpPr>
        <p:spPr>
          <a:xfrm>
            <a:off x="502920" y="786384"/>
            <a:ext cx="8138160" cy="320040"/>
          </a:xfrm>
          <a:prstGeom prst="rect">
            <a:avLst/>
          </a:prstGeom>
          <a:noFill/>
          <a:ln/>
        </p:spPr>
        <p:txBody>
          <a:bodyPr wrap="square" lIns="0" tIns="0" rIns="0" bIns="0" rtlCol="0" anchor="ctr"/>
          <a:lstStyle/>
          <a:p>
            <a:pPr marL="0" indent="0">
              <a:buNone/>
            </a:pPr>
            <a:r>
              <a:rPr lang="en-US" sz="1300" i="1" dirty="0">
                <a:solidFill>
                  <a:srgbClr val="5B6B58"/>
                </a:solidFill>
                <a:latin typeface="Calibri" pitchFamily="34" charset="0"/>
                <a:ea typeface="Calibri" pitchFamily="34" charset="-122"/>
                <a:cs typeface="Calibri" pitchFamily="34" charset="-120"/>
              </a:rPr>
              <a:t>the required sequence diagram, from keystroke to database and back</a:t>
            </a:r>
            <a:endParaRPr lang="en-US" sz="1300" dirty="0"/>
          </a:p>
        </p:txBody>
      </p:sp>
      <p:pic>
        <p:nvPicPr>
          <p:cNvPr id="4" name="Image 0" descr="/home/claude/diagrams/sequence_search.png"/>
          <p:cNvPicPr>
            <a:picLocks noChangeAspect="1"/>
          </p:cNvPicPr>
          <p:nvPr/>
        </p:nvPicPr>
        <p:blipFill>
          <a:blip r:embed="rId3"/>
          <a:stretch>
            <a:fillRect/>
          </a:stretch>
        </p:blipFill>
        <p:spPr>
          <a:xfrm>
            <a:off x="1097280" y="1207008"/>
            <a:ext cx="6949440" cy="37947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8138160" cy="566928"/>
          </a:xfrm>
          <a:prstGeom prst="rect">
            <a:avLst/>
          </a:prstGeom>
          <a:noFill/>
          <a:ln/>
        </p:spPr>
        <p:txBody>
          <a:bodyPr wrap="square" lIns="0" tIns="0" rIns="0" bIns="0" rtlCol="0" anchor="ctr"/>
          <a:lstStyle/>
          <a:p>
            <a:pPr marL="0" indent="0">
              <a:buNone/>
            </a:pPr>
            <a:r>
              <a:rPr lang="en-US" sz="3000" b="1" dirty="0">
                <a:solidFill>
                  <a:srgbClr val="2C5F2D"/>
                </a:solidFill>
                <a:latin typeface="Cambria" pitchFamily="34" charset="0"/>
                <a:ea typeface="Cambria" pitchFamily="34" charset="-122"/>
                <a:cs typeface="Cambria" pitchFamily="34" charset="-120"/>
              </a:rPr>
              <a:t>Design patterns</a:t>
            </a:r>
            <a:endParaRPr lang="en-US" sz="3000" dirty="0"/>
          </a:p>
        </p:txBody>
      </p:sp>
      <p:sp>
        <p:nvSpPr>
          <p:cNvPr id="3" name="Text 1"/>
          <p:cNvSpPr/>
          <p:nvPr/>
        </p:nvSpPr>
        <p:spPr>
          <a:xfrm>
            <a:off x="502920" y="786384"/>
            <a:ext cx="8138160" cy="320040"/>
          </a:xfrm>
          <a:prstGeom prst="rect">
            <a:avLst/>
          </a:prstGeom>
          <a:noFill/>
          <a:ln/>
        </p:spPr>
        <p:txBody>
          <a:bodyPr wrap="square" lIns="0" tIns="0" rIns="0" bIns="0" rtlCol="0" anchor="ctr"/>
          <a:lstStyle/>
          <a:p>
            <a:pPr marL="0" indent="0">
              <a:buNone/>
            </a:pPr>
            <a:r>
              <a:rPr lang="en-US" sz="1300" i="1" dirty="0">
                <a:solidFill>
                  <a:srgbClr val="5B6B58"/>
                </a:solidFill>
                <a:latin typeface="Calibri" pitchFamily="34" charset="0"/>
                <a:ea typeface="Calibri" pitchFamily="34" charset="-122"/>
                <a:cs typeface="Calibri" pitchFamily="34" charset="-120"/>
              </a:rPr>
              <a:t>confirmed as sufficient by the course instructor</a:t>
            </a:r>
            <a:endParaRPr lang="en-US" sz="1300" dirty="0"/>
          </a:p>
        </p:txBody>
      </p:sp>
      <p:sp>
        <p:nvSpPr>
          <p:cNvPr id="4" name="Shape 2"/>
          <p:cNvSpPr/>
          <p:nvPr/>
        </p:nvSpPr>
        <p:spPr>
          <a:xfrm>
            <a:off x="411480" y="1371600"/>
            <a:ext cx="2651760" cy="3017520"/>
          </a:xfrm>
          <a:prstGeom prst="roundRect">
            <a:avLst>
              <a:gd name="adj" fmla="val 2414"/>
            </a:avLst>
          </a:prstGeom>
          <a:solidFill>
            <a:srgbClr val="F5F8F1"/>
          </a:solidFill>
          <a:ln/>
          <a:effectLst>
            <a:outerShdw blurRad="88900" dist="25400" dir="2700000" algn="bl" rotWithShape="0">
              <a:srgbClr val="000000">
                <a:alpha val="13000"/>
              </a:srgbClr>
            </a:outerShdw>
          </a:effectLst>
        </p:spPr>
        <p:txBody>
          <a:bodyPr/>
          <a:lstStyle/>
          <a:p>
            <a:endParaRPr lang="en-MK"/>
          </a:p>
        </p:txBody>
      </p:sp>
      <p:sp>
        <p:nvSpPr>
          <p:cNvPr id="5" name="Shape 3"/>
          <p:cNvSpPr/>
          <p:nvPr/>
        </p:nvSpPr>
        <p:spPr>
          <a:xfrm>
            <a:off x="1435608" y="1645920"/>
            <a:ext cx="603504" cy="603504"/>
          </a:xfrm>
          <a:prstGeom prst="ellipse">
            <a:avLst/>
          </a:prstGeom>
          <a:solidFill>
            <a:srgbClr val="EAF3E0"/>
          </a:solidFill>
          <a:ln/>
        </p:spPr>
        <p:txBody>
          <a:bodyPr/>
          <a:lstStyle/>
          <a:p>
            <a:endParaRPr lang="en-MK"/>
          </a:p>
        </p:txBody>
      </p:sp>
      <p:pic>
        <p:nvPicPr>
          <p:cNvPr id="6" name="Image 0" descr="preencoded.png"/>
          <p:cNvPicPr>
            <a:picLocks noChangeAspect="1"/>
          </p:cNvPicPr>
          <p:nvPr/>
        </p:nvPicPr>
        <p:blipFill>
          <a:blip r:embed="rId3"/>
          <a:stretch>
            <a:fillRect/>
          </a:stretch>
        </p:blipFill>
        <p:spPr>
          <a:xfrm>
            <a:off x="1568379" y="1778691"/>
            <a:ext cx="337962" cy="337962"/>
          </a:xfrm>
          <a:prstGeom prst="rect">
            <a:avLst/>
          </a:prstGeom>
        </p:spPr>
      </p:pic>
      <p:sp>
        <p:nvSpPr>
          <p:cNvPr id="7" name="Text 4"/>
          <p:cNvSpPr/>
          <p:nvPr/>
        </p:nvSpPr>
        <p:spPr>
          <a:xfrm>
            <a:off x="548640" y="2331720"/>
            <a:ext cx="2377440" cy="365760"/>
          </a:xfrm>
          <a:prstGeom prst="rect">
            <a:avLst/>
          </a:prstGeom>
          <a:noFill/>
          <a:ln/>
        </p:spPr>
        <p:txBody>
          <a:bodyPr wrap="square" rtlCol="0" anchor="ctr"/>
          <a:lstStyle/>
          <a:p>
            <a:pPr marL="0" indent="0" algn="ctr">
              <a:buNone/>
            </a:pPr>
            <a:r>
              <a:rPr lang="en-US" sz="1600" b="1" dirty="0">
                <a:solidFill>
                  <a:srgbClr val="2C5F2D"/>
                </a:solidFill>
                <a:latin typeface="Cambria" pitchFamily="34" charset="0"/>
                <a:ea typeface="Cambria" pitchFamily="34" charset="-122"/>
                <a:cs typeface="Cambria" pitchFamily="34" charset="-120"/>
              </a:rPr>
              <a:t>Repository</a:t>
            </a:r>
            <a:endParaRPr lang="en-US" sz="1600" dirty="0"/>
          </a:p>
        </p:txBody>
      </p:sp>
      <p:sp>
        <p:nvSpPr>
          <p:cNvPr id="8" name="Text 5"/>
          <p:cNvSpPr/>
          <p:nvPr/>
        </p:nvSpPr>
        <p:spPr>
          <a:xfrm>
            <a:off x="612648" y="2743200"/>
            <a:ext cx="2249424" cy="1463040"/>
          </a:xfrm>
          <a:prstGeom prst="rect">
            <a:avLst/>
          </a:prstGeom>
          <a:noFill/>
          <a:ln/>
        </p:spPr>
        <p:txBody>
          <a:bodyPr wrap="square" rtlCol="0" anchor="t"/>
          <a:lstStyle/>
          <a:p>
            <a:pPr marL="0" indent="0" algn="l">
              <a:buNone/>
            </a:pPr>
            <a:r>
              <a:rPr lang="en-US" sz="1100" dirty="0">
                <a:solidFill>
                  <a:srgbClr val="22301F"/>
                </a:solidFill>
                <a:latin typeface="Calibri" pitchFamily="34" charset="0"/>
                <a:ea typeface="Calibri" pitchFamily="34" charset="-122"/>
                <a:cs typeface="Calibri" pitchFamily="34" charset="-120"/>
              </a:rPr>
              <a:t>all database access goes through repository interfaces. like a warehouse counter: the service hands in an order slip and gets goods back, it never walks into the warehouse itself.</a:t>
            </a:r>
            <a:endParaRPr lang="en-US" sz="1100" dirty="0"/>
          </a:p>
        </p:txBody>
      </p:sp>
      <p:sp>
        <p:nvSpPr>
          <p:cNvPr id="9" name="Shape 6"/>
          <p:cNvSpPr/>
          <p:nvPr/>
        </p:nvSpPr>
        <p:spPr>
          <a:xfrm>
            <a:off x="3246120" y="1371600"/>
            <a:ext cx="2651760" cy="3017520"/>
          </a:xfrm>
          <a:prstGeom prst="roundRect">
            <a:avLst>
              <a:gd name="adj" fmla="val 2414"/>
            </a:avLst>
          </a:prstGeom>
          <a:solidFill>
            <a:srgbClr val="F5F8F1"/>
          </a:solidFill>
          <a:ln/>
          <a:effectLst>
            <a:outerShdw blurRad="88900" dist="25400" dir="2700000" algn="bl" rotWithShape="0">
              <a:srgbClr val="000000">
                <a:alpha val="13000"/>
              </a:srgbClr>
            </a:outerShdw>
          </a:effectLst>
        </p:spPr>
        <p:txBody>
          <a:bodyPr/>
          <a:lstStyle/>
          <a:p>
            <a:endParaRPr lang="en-MK"/>
          </a:p>
        </p:txBody>
      </p:sp>
      <p:sp>
        <p:nvSpPr>
          <p:cNvPr id="10" name="Shape 7"/>
          <p:cNvSpPr/>
          <p:nvPr/>
        </p:nvSpPr>
        <p:spPr>
          <a:xfrm>
            <a:off x="4270248" y="1645920"/>
            <a:ext cx="603504" cy="603504"/>
          </a:xfrm>
          <a:prstGeom prst="ellipse">
            <a:avLst/>
          </a:prstGeom>
          <a:solidFill>
            <a:srgbClr val="EAF3E0"/>
          </a:solidFill>
          <a:ln/>
        </p:spPr>
        <p:txBody>
          <a:bodyPr/>
          <a:lstStyle/>
          <a:p>
            <a:endParaRPr lang="en-MK"/>
          </a:p>
        </p:txBody>
      </p:sp>
      <p:pic>
        <p:nvPicPr>
          <p:cNvPr id="11" name="Image 1" descr="preencoded.png"/>
          <p:cNvPicPr>
            <a:picLocks noChangeAspect="1"/>
          </p:cNvPicPr>
          <p:nvPr/>
        </p:nvPicPr>
        <p:blipFill>
          <a:blip r:embed="rId4"/>
          <a:stretch>
            <a:fillRect/>
          </a:stretch>
        </p:blipFill>
        <p:spPr>
          <a:xfrm>
            <a:off x="4403019" y="1778691"/>
            <a:ext cx="337962" cy="337962"/>
          </a:xfrm>
          <a:prstGeom prst="rect">
            <a:avLst/>
          </a:prstGeom>
        </p:spPr>
      </p:pic>
      <p:sp>
        <p:nvSpPr>
          <p:cNvPr id="12" name="Text 8"/>
          <p:cNvSpPr/>
          <p:nvPr/>
        </p:nvSpPr>
        <p:spPr>
          <a:xfrm>
            <a:off x="3383280" y="2331720"/>
            <a:ext cx="2377440" cy="365760"/>
          </a:xfrm>
          <a:prstGeom prst="rect">
            <a:avLst/>
          </a:prstGeom>
          <a:noFill/>
          <a:ln/>
        </p:spPr>
        <p:txBody>
          <a:bodyPr wrap="square" rtlCol="0" anchor="ctr"/>
          <a:lstStyle/>
          <a:p>
            <a:pPr marL="0" indent="0" algn="ctr">
              <a:buNone/>
            </a:pPr>
            <a:r>
              <a:rPr lang="en-US" sz="1600" b="1" dirty="0">
                <a:solidFill>
                  <a:srgbClr val="2C5F2D"/>
                </a:solidFill>
                <a:latin typeface="Cambria" pitchFamily="34" charset="0"/>
                <a:ea typeface="Cambria" pitchFamily="34" charset="-122"/>
                <a:cs typeface="Cambria" pitchFamily="34" charset="-120"/>
              </a:rPr>
              <a:t>Dependency injection</a:t>
            </a:r>
            <a:endParaRPr lang="en-US" sz="1600" dirty="0"/>
          </a:p>
        </p:txBody>
      </p:sp>
      <p:sp>
        <p:nvSpPr>
          <p:cNvPr id="13" name="Text 9"/>
          <p:cNvSpPr/>
          <p:nvPr/>
        </p:nvSpPr>
        <p:spPr>
          <a:xfrm>
            <a:off x="3447288" y="2743200"/>
            <a:ext cx="2249424" cy="1463040"/>
          </a:xfrm>
          <a:prstGeom prst="rect">
            <a:avLst/>
          </a:prstGeom>
          <a:noFill/>
          <a:ln/>
        </p:spPr>
        <p:txBody>
          <a:bodyPr wrap="square" rtlCol="0" anchor="t"/>
          <a:lstStyle/>
          <a:p>
            <a:pPr marL="0" indent="0" algn="l">
              <a:buNone/>
            </a:pPr>
            <a:r>
              <a:rPr lang="en-US" sz="1100" dirty="0">
                <a:solidFill>
                  <a:srgbClr val="22301F"/>
                </a:solidFill>
                <a:latin typeface="Calibri" pitchFamily="34" charset="0"/>
                <a:ea typeface="Calibri" pitchFamily="34" charset="-122"/>
                <a:cs typeface="Calibri" pitchFamily="34" charset="-120"/>
              </a:rPr>
              <a:t>no class builds its own helpers with new. each class states what it needs in the constructor and Spring delivers it. that is exactly what lets tests hand in mocks instead.</a:t>
            </a:r>
            <a:endParaRPr lang="en-US" sz="1100" dirty="0"/>
          </a:p>
        </p:txBody>
      </p:sp>
      <p:sp>
        <p:nvSpPr>
          <p:cNvPr id="14" name="Shape 10"/>
          <p:cNvSpPr/>
          <p:nvPr/>
        </p:nvSpPr>
        <p:spPr>
          <a:xfrm>
            <a:off x="6080760" y="1371600"/>
            <a:ext cx="2651760" cy="3017520"/>
          </a:xfrm>
          <a:prstGeom prst="roundRect">
            <a:avLst>
              <a:gd name="adj" fmla="val 2414"/>
            </a:avLst>
          </a:prstGeom>
          <a:solidFill>
            <a:srgbClr val="F5F8F1"/>
          </a:solidFill>
          <a:ln/>
          <a:effectLst>
            <a:outerShdw blurRad="88900" dist="25400" dir="2700000" algn="bl" rotWithShape="0">
              <a:srgbClr val="000000">
                <a:alpha val="13000"/>
              </a:srgbClr>
            </a:outerShdw>
          </a:effectLst>
        </p:spPr>
        <p:txBody>
          <a:bodyPr/>
          <a:lstStyle/>
          <a:p>
            <a:endParaRPr lang="en-MK"/>
          </a:p>
        </p:txBody>
      </p:sp>
      <p:sp>
        <p:nvSpPr>
          <p:cNvPr id="15" name="Shape 11"/>
          <p:cNvSpPr/>
          <p:nvPr/>
        </p:nvSpPr>
        <p:spPr>
          <a:xfrm>
            <a:off x="7104888" y="1645920"/>
            <a:ext cx="603504" cy="603504"/>
          </a:xfrm>
          <a:prstGeom prst="ellipse">
            <a:avLst/>
          </a:prstGeom>
          <a:solidFill>
            <a:srgbClr val="EAF3E0"/>
          </a:solidFill>
          <a:ln/>
        </p:spPr>
        <p:txBody>
          <a:bodyPr/>
          <a:lstStyle/>
          <a:p>
            <a:endParaRPr lang="en-MK"/>
          </a:p>
        </p:txBody>
      </p:sp>
      <p:pic>
        <p:nvPicPr>
          <p:cNvPr id="16" name="Image 2" descr="preencoded.png"/>
          <p:cNvPicPr>
            <a:picLocks noChangeAspect="1"/>
          </p:cNvPicPr>
          <p:nvPr/>
        </p:nvPicPr>
        <p:blipFill>
          <a:blip r:embed="rId5"/>
          <a:stretch>
            <a:fillRect/>
          </a:stretch>
        </p:blipFill>
        <p:spPr>
          <a:xfrm>
            <a:off x="7237659" y="1778691"/>
            <a:ext cx="337962" cy="337962"/>
          </a:xfrm>
          <a:prstGeom prst="rect">
            <a:avLst/>
          </a:prstGeom>
        </p:spPr>
      </p:pic>
      <p:sp>
        <p:nvSpPr>
          <p:cNvPr id="17" name="Text 12"/>
          <p:cNvSpPr/>
          <p:nvPr/>
        </p:nvSpPr>
        <p:spPr>
          <a:xfrm>
            <a:off x="6217920" y="2331720"/>
            <a:ext cx="2377440" cy="365760"/>
          </a:xfrm>
          <a:prstGeom prst="rect">
            <a:avLst/>
          </a:prstGeom>
          <a:noFill/>
          <a:ln/>
        </p:spPr>
        <p:txBody>
          <a:bodyPr wrap="square" rtlCol="0" anchor="ctr"/>
          <a:lstStyle/>
          <a:p>
            <a:pPr marL="0" indent="0" algn="ctr">
              <a:buNone/>
            </a:pPr>
            <a:r>
              <a:rPr lang="en-US" sz="1600" b="1" dirty="0">
                <a:solidFill>
                  <a:srgbClr val="2C5F2D"/>
                </a:solidFill>
                <a:latin typeface="Cambria" pitchFamily="34" charset="0"/>
                <a:ea typeface="Cambria" pitchFamily="34" charset="-122"/>
                <a:cs typeface="Cambria" pitchFamily="34" charset="-120"/>
              </a:rPr>
              <a:t>MVVM</a:t>
            </a:r>
            <a:endParaRPr lang="en-US" sz="1600" dirty="0"/>
          </a:p>
        </p:txBody>
      </p:sp>
      <p:sp>
        <p:nvSpPr>
          <p:cNvPr id="18" name="Text 13"/>
          <p:cNvSpPr/>
          <p:nvPr/>
        </p:nvSpPr>
        <p:spPr>
          <a:xfrm>
            <a:off x="6281928" y="2743200"/>
            <a:ext cx="2249424" cy="1463040"/>
          </a:xfrm>
          <a:prstGeom prst="rect">
            <a:avLst/>
          </a:prstGeom>
          <a:noFill/>
          <a:ln/>
        </p:spPr>
        <p:txBody>
          <a:bodyPr wrap="square" rtlCol="0" anchor="t"/>
          <a:lstStyle/>
          <a:p>
            <a:pPr marL="0" indent="0" algn="l">
              <a:buNone/>
            </a:pPr>
            <a:r>
              <a:rPr lang="en-US" sz="1100" dirty="0">
                <a:solidFill>
                  <a:srgbClr val="22301F"/>
                </a:solidFill>
                <a:latin typeface="Calibri" pitchFamily="34" charset="0"/>
                <a:ea typeface="Calibri" pitchFamily="34" charset="-122"/>
                <a:cs typeface="Calibri" pitchFamily="34" charset="-120"/>
              </a:rPr>
              <a:t>the view only talks to the viewmodel, the viewmodel only to the services. a waiter between dining room and kitchen: neither side needs to know the other.</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8138160" cy="566928"/>
          </a:xfrm>
          <a:prstGeom prst="rect">
            <a:avLst/>
          </a:prstGeom>
          <a:noFill/>
          <a:ln/>
        </p:spPr>
        <p:txBody>
          <a:bodyPr wrap="square" lIns="0" tIns="0" rIns="0" bIns="0" rtlCol="0" anchor="ctr"/>
          <a:lstStyle/>
          <a:p>
            <a:pPr marL="0" indent="0">
              <a:buNone/>
            </a:pPr>
            <a:r>
              <a:rPr lang="en-US" sz="3000" b="1" dirty="0">
                <a:solidFill>
                  <a:srgbClr val="2C5F2D"/>
                </a:solidFill>
                <a:latin typeface="Cambria" pitchFamily="34" charset="0"/>
                <a:ea typeface="Cambria" pitchFamily="34" charset="-122"/>
                <a:cs typeface="Cambria" pitchFamily="34" charset="-120"/>
              </a:rPr>
              <a:t>Unit tests</a:t>
            </a:r>
            <a:endParaRPr lang="en-US" sz="3000" dirty="0"/>
          </a:p>
        </p:txBody>
      </p:sp>
      <p:sp>
        <p:nvSpPr>
          <p:cNvPr id="3" name="Text 1"/>
          <p:cNvSpPr/>
          <p:nvPr/>
        </p:nvSpPr>
        <p:spPr>
          <a:xfrm>
            <a:off x="502920" y="786384"/>
            <a:ext cx="8138160" cy="320040"/>
          </a:xfrm>
          <a:prstGeom prst="rect">
            <a:avLst/>
          </a:prstGeom>
          <a:noFill/>
          <a:ln/>
        </p:spPr>
        <p:txBody>
          <a:bodyPr wrap="square" lIns="0" tIns="0" rIns="0" bIns="0" rtlCol="0" anchor="ctr"/>
          <a:lstStyle/>
          <a:p>
            <a:pPr marL="0" indent="0">
              <a:buNone/>
            </a:pPr>
            <a:r>
              <a:rPr lang="en-US" sz="1300" i="1" dirty="0">
                <a:solidFill>
                  <a:srgbClr val="5B6B58"/>
                </a:solidFill>
                <a:latin typeface="Calibri" pitchFamily="34" charset="0"/>
                <a:ea typeface="Calibri" pitchFamily="34" charset="-122"/>
                <a:cs typeface="Calibri" pitchFamily="34" charset="-120"/>
              </a:rPr>
              <a:t>we test where our own decisions live</a:t>
            </a:r>
            <a:endParaRPr lang="en-US" sz="1300" dirty="0"/>
          </a:p>
        </p:txBody>
      </p:sp>
      <p:sp>
        <p:nvSpPr>
          <p:cNvPr id="4" name="Shape 2"/>
          <p:cNvSpPr/>
          <p:nvPr/>
        </p:nvSpPr>
        <p:spPr>
          <a:xfrm>
            <a:off x="502920" y="1280160"/>
            <a:ext cx="2377440" cy="3200400"/>
          </a:xfrm>
          <a:prstGeom prst="roundRect">
            <a:avLst>
              <a:gd name="adj" fmla="val 3077"/>
            </a:avLst>
          </a:prstGeom>
          <a:solidFill>
            <a:srgbClr val="2C5F2D"/>
          </a:solidFill>
          <a:ln/>
        </p:spPr>
        <p:txBody>
          <a:bodyPr/>
          <a:lstStyle/>
          <a:p>
            <a:endParaRPr lang="en-MK"/>
          </a:p>
        </p:txBody>
      </p:sp>
      <p:sp>
        <p:nvSpPr>
          <p:cNvPr id="5" name="Text 3"/>
          <p:cNvSpPr/>
          <p:nvPr/>
        </p:nvSpPr>
        <p:spPr>
          <a:xfrm>
            <a:off x="502920" y="1600200"/>
            <a:ext cx="2377440" cy="1005840"/>
          </a:xfrm>
          <a:prstGeom prst="rect">
            <a:avLst/>
          </a:prstGeom>
          <a:noFill/>
          <a:ln/>
        </p:spPr>
        <p:txBody>
          <a:bodyPr wrap="square" rtlCol="0" anchor="ctr"/>
          <a:lstStyle/>
          <a:p>
            <a:pPr marL="0" indent="0" algn="ctr">
              <a:buNone/>
            </a:pPr>
            <a:r>
              <a:rPr lang="en-US" sz="6400" b="1" dirty="0">
                <a:solidFill>
                  <a:srgbClr val="FFFFFF"/>
                </a:solidFill>
                <a:latin typeface="Cambria" pitchFamily="34" charset="0"/>
                <a:ea typeface="Cambria" pitchFamily="34" charset="-122"/>
                <a:cs typeface="Cambria" pitchFamily="34" charset="-120"/>
              </a:rPr>
              <a:t>32</a:t>
            </a:r>
            <a:endParaRPr lang="en-US" sz="6400" dirty="0"/>
          </a:p>
        </p:txBody>
      </p:sp>
      <p:sp>
        <p:nvSpPr>
          <p:cNvPr id="6" name="Text 4"/>
          <p:cNvSpPr/>
          <p:nvPr/>
        </p:nvSpPr>
        <p:spPr>
          <a:xfrm>
            <a:off x="502920" y="2651760"/>
            <a:ext cx="2377440" cy="320040"/>
          </a:xfrm>
          <a:prstGeom prst="rect">
            <a:avLst/>
          </a:prstGeom>
          <a:noFill/>
          <a:ln/>
        </p:spPr>
        <p:txBody>
          <a:bodyPr wrap="square" rtlCol="0" anchor="ctr"/>
          <a:lstStyle/>
          <a:p>
            <a:pPr marL="0" indent="0" algn="ctr">
              <a:buNone/>
            </a:pPr>
            <a:r>
              <a:rPr lang="en-US" sz="1300" dirty="0">
                <a:solidFill>
                  <a:srgbClr val="EAF3E0"/>
                </a:solidFill>
              </a:rPr>
              <a:t>backend unit tests</a:t>
            </a:r>
            <a:endParaRPr lang="en-US" sz="1300" dirty="0"/>
          </a:p>
        </p:txBody>
      </p:sp>
      <p:sp>
        <p:nvSpPr>
          <p:cNvPr id="7" name="Text 5"/>
          <p:cNvSpPr/>
          <p:nvPr/>
        </p:nvSpPr>
        <p:spPr>
          <a:xfrm>
            <a:off x="640080" y="3063240"/>
            <a:ext cx="2103120" cy="1097280"/>
          </a:xfrm>
          <a:prstGeom prst="rect">
            <a:avLst/>
          </a:prstGeom>
          <a:noFill/>
          <a:ln/>
        </p:spPr>
        <p:txBody>
          <a:bodyPr wrap="square" rtlCol="0" anchor="ctr"/>
          <a:lstStyle/>
          <a:p>
            <a:pPr marL="0" indent="0" algn="ctr">
              <a:buNone/>
            </a:pPr>
            <a:r>
              <a:rPr lang="en-US" sz="1100" dirty="0">
                <a:solidFill>
                  <a:srgbClr val="EAF3E0"/>
                </a:solidFill>
                <a:latin typeface="Calibri" pitchFamily="34" charset="0"/>
                <a:ea typeface="Calibri" pitchFamily="34" charset="-122"/>
                <a:cs typeface="Calibri" pitchFamily="34" charset="-120"/>
              </a:rPr>
              <a:t>20 required, all green,</a:t>
            </a:r>
            <a:endParaRPr lang="en-US" sz="1100" dirty="0"/>
          </a:p>
          <a:p>
            <a:pPr marL="0" indent="0" algn="ctr">
              <a:buNone/>
            </a:pPr>
            <a:r>
              <a:rPr lang="en-US" sz="1100" dirty="0">
                <a:solidFill>
                  <a:srgbClr val="EAF3E0"/>
                </a:solidFill>
                <a:latin typeface="Calibri" pitchFamily="34" charset="0"/>
                <a:ea typeface="Calibri" pitchFamily="34" charset="-122"/>
                <a:cs typeface="Calibri" pitchFamily="34" charset="-120"/>
              </a:rPr>
              <a:t>run without database</a:t>
            </a:r>
            <a:endParaRPr lang="en-US" sz="1100" dirty="0"/>
          </a:p>
          <a:p>
            <a:pPr marL="0" indent="0" algn="ctr">
              <a:buNone/>
            </a:pPr>
            <a:r>
              <a:rPr lang="en-US" sz="1100" dirty="0">
                <a:solidFill>
                  <a:srgbClr val="EAF3E0"/>
                </a:solidFill>
                <a:latin typeface="Calibri" pitchFamily="34" charset="0"/>
                <a:ea typeface="Calibri" pitchFamily="34" charset="-122"/>
                <a:cs typeface="Calibri" pitchFamily="34" charset="-120"/>
              </a:rPr>
              <a:t>or internet</a:t>
            </a:r>
            <a:endParaRPr lang="en-US" sz="1100" dirty="0"/>
          </a:p>
        </p:txBody>
      </p:sp>
      <p:sp>
        <p:nvSpPr>
          <p:cNvPr id="8" name="Shape 6"/>
          <p:cNvSpPr/>
          <p:nvPr/>
        </p:nvSpPr>
        <p:spPr>
          <a:xfrm>
            <a:off x="3200400" y="1325880"/>
            <a:ext cx="402336" cy="402336"/>
          </a:xfrm>
          <a:prstGeom prst="ellipse">
            <a:avLst/>
          </a:prstGeom>
          <a:solidFill>
            <a:srgbClr val="EAF3E0"/>
          </a:solidFill>
          <a:ln/>
        </p:spPr>
        <p:txBody>
          <a:bodyPr/>
          <a:lstStyle/>
          <a:p>
            <a:endParaRPr lang="en-MK"/>
          </a:p>
        </p:txBody>
      </p:sp>
      <p:pic>
        <p:nvPicPr>
          <p:cNvPr id="9" name="Image 0" descr="preencoded.png"/>
          <p:cNvPicPr>
            <a:picLocks noChangeAspect="1"/>
          </p:cNvPicPr>
          <p:nvPr/>
        </p:nvPicPr>
        <p:blipFill>
          <a:blip r:embed="rId3"/>
          <a:stretch>
            <a:fillRect/>
          </a:stretch>
        </p:blipFill>
        <p:spPr>
          <a:xfrm>
            <a:off x="3288914" y="1414394"/>
            <a:ext cx="225308" cy="225308"/>
          </a:xfrm>
          <a:prstGeom prst="rect">
            <a:avLst/>
          </a:prstGeom>
        </p:spPr>
      </p:pic>
      <p:sp>
        <p:nvSpPr>
          <p:cNvPr id="10" name="Text 7"/>
          <p:cNvSpPr/>
          <p:nvPr/>
        </p:nvSpPr>
        <p:spPr>
          <a:xfrm>
            <a:off x="3703320" y="1271016"/>
            <a:ext cx="4937760" cy="548640"/>
          </a:xfrm>
          <a:prstGeom prst="rect">
            <a:avLst/>
          </a:prstGeom>
          <a:noFill/>
          <a:ln/>
        </p:spPr>
        <p:txBody>
          <a:bodyPr wrap="square" rtlCol="0" anchor="ctr"/>
          <a:lstStyle/>
          <a:p>
            <a:pPr marL="0" indent="0">
              <a:buNone/>
            </a:pPr>
            <a:r>
              <a:rPr lang="en-US" sz="1250" b="1" dirty="0">
                <a:solidFill>
                  <a:srgbClr val="22301F"/>
                </a:solidFill>
                <a:latin typeface="Calibri" pitchFamily="34" charset="0"/>
                <a:ea typeface="Calibri" pitchFamily="34" charset="-122"/>
                <a:cs typeface="Calibri" pitchFamily="34" charset="-120"/>
              </a:rPr>
              <a:t>happy paths   </a:t>
            </a:r>
            <a:r>
              <a:rPr lang="en-US" sz="1150" dirty="0">
                <a:solidFill>
                  <a:srgbClr val="5B6B58"/>
                </a:solidFill>
                <a:latin typeface="Calibri" pitchFamily="34" charset="0"/>
                <a:ea typeface="Calibri" pitchFamily="34" charset="-122"/>
                <a:cs typeface="Calibri" pitchFamily="34" charset="-120"/>
              </a:rPr>
              <a:t>CRUD and search return correctly mapped DTOs</a:t>
            </a:r>
            <a:endParaRPr lang="en-US" sz="1250" dirty="0"/>
          </a:p>
        </p:txBody>
      </p:sp>
      <p:sp>
        <p:nvSpPr>
          <p:cNvPr id="11" name="Shape 8"/>
          <p:cNvSpPr/>
          <p:nvPr/>
        </p:nvSpPr>
        <p:spPr>
          <a:xfrm>
            <a:off x="3200400" y="1984248"/>
            <a:ext cx="402336" cy="402336"/>
          </a:xfrm>
          <a:prstGeom prst="ellipse">
            <a:avLst/>
          </a:prstGeom>
          <a:solidFill>
            <a:srgbClr val="EAF3E0"/>
          </a:solidFill>
          <a:ln/>
        </p:spPr>
        <p:txBody>
          <a:bodyPr/>
          <a:lstStyle/>
          <a:p>
            <a:endParaRPr lang="en-MK"/>
          </a:p>
        </p:txBody>
      </p:sp>
      <p:pic>
        <p:nvPicPr>
          <p:cNvPr id="12" name="Image 1" descr="preencoded.png"/>
          <p:cNvPicPr>
            <a:picLocks noChangeAspect="1"/>
          </p:cNvPicPr>
          <p:nvPr/>
        </p:nvPicPr>
        <p:blipFill>
          <a:blip r:embed="rId4"/>
          <a:stretch>
            <a:fillRect/>
          </a:stretch>
        </p:blipFill>
        <p:spPr>
          <a:xfrm>
            <a:off x="3288914" y="2072762"/>
            <a:ext cx="225308" cy="225308"/>
          </a:xfrm>
          <a:prstGeom prst="rect">
            <a:avLst/>
          </a:prstGeom>
        </p:spPr>
      </p:pic>
      <p:sp>
        <p:nvSpPr>
          <p:cNvPr id="13" name="Text 9"/>
          <p:cNvSpPr/>
          <p:nvPr/>
        </p:nvSpPr>
        <p:spPr>
          <a:xfrm>
            <a:off x="3703320" y="1929384"/>
            <a:ext cx="4937760" cy="548640"/>
          </a:xfrm>
          <a:prstGeom prst="rect">
            <a:avLst/>
          </a:prstGeom>
          <a:noFill/>
          <a:ln/>
        </p:spPr>
        <p:txBody>
          <a:bodyPr wrap="square" rtlCol="0" anchor="ctr"/>
          <a:lstStyle/>
          <a:p>
            <a:pPr marL="0" indent="0">
              <a:buNone/>
            </a:pPr>
            <a:r>
              <a:rPr lang="en-US" sz="1250" b="1" dirty="0">
                <a:solidFill>
                  <a:srgbClr val="22301F"/>
                </a:solidFill>
                <a:latin typeface="Calibri" pitchFamily="34" charset="0"/>
                <a:ea typeface="Calibri" pitchFamily="34" charset="-122"/>
                <a:cs typeface="Calibri" pitchFamily="34" charset="-120"/>
              </a:rPr>
              <a:t>error paths   </a:t>
            </a:r>
            <a:r>
              <a:rPr lang="en-US" sz="1150" dirty="0">
                <a:solidFill>
                  <a:srgbClr val="5B6B58"/>
                </a:solidFill>
                <a:latin typeface="Calibri" pitchFamily="34" charset="0"/>
                <a:ea typeface="Calibri" pitchFamily="34" charset="-122"/>
                <a:cs typeface="Calibri" pitchFamily="34" charset="-120"/>
              </a:rPr>
              <a:t>missing tours throw a clean not found, no crashes</a:t>
            </a:r>
            <a:endParaRPr lang="en-US" sz="1250" dirty="0"/>
          </a:p>
        </p:txBody>
      </p:sp>
      <p:sp>
        <p:nvSpPr>
          <p:cNvPr id="14" name="Shape 10"/>
          <p:cNvSpPr/>
          <p:nvPr/>
        </p:nvSpPr>
        <p:spPr>
          <a:xfrm>
            <a:off x="3200400" y="2642616"/>
            <a:ext cx="402336" cy="402336"/>
          </a:xfrm>
          <a:prstGeom prst="ellipse">
            <a:avLst/>
          </a:prstGeom>
          <a:solidFill>
            <a:srgbClr val="EAF3E0"/>
          </a:solidFill>
          <a:ln/>
        </p:spPr>
        <p:txBody>
          <a:bodyPr/>
          <a:lstStyle/>
          <a:p>
            <a:endParaRPr lang="en-MK"/>
          </a:p>
        </p:txBody>
      </p:sp>
      <p:pic>
        <p:nvPicPr>
          <p:cNvPr id="15" name="Image 2" descr="preencoded.png"/>
          <p:cNvPicPr>
            <a:picLocks noChangeAspect="1"/>
          </p:cNvPicPr>
          <p:nvPr/>
        </p:nvPicPr>
        <p:blipFill>
          <a:blip r:embed="rId5"/>
          <a:stretch>
            <a:fillRect/>
          </a:stretch>
        </p:blipFill>
        <p:spPr>
          <a:xfrm>
            <a:off x="3288914" y="2731130"/>
            <a:ext cx="225308" cy="225308"/>
          </a:xfrm>
          <a:prstGeom prst="rect">
            <a:avLst/>
          </a:prstGeom>
        </p:spPr>
      </p:pic>
      <p:sp>
        <p:nvSpPr>
          <p:cNvPr id="16" name="Text 11"/>
          <p:cNvSpPr/>
          <p:nvPr/>
        </p:nvSpPr>
        <p:spPr>
          <a:xfrm>
            <a:off x="3703320" y="2587752"/>
            <a:ext cx="4937760" cy="548640"/>
          </a:xfrm>
          <a:prstGeom prst="rect">
            <a:avLst/>
          </a:prstGeom>
          <a:noFill/>
          <a:ln/>
        </p:spPr>
        <p:txBody>
          <a:bodyPr wrap="square" rtlCol="0" anchor="ctr"/>
          <a:lstStyle/>
          <a:p>
            <a:pPr marL="0" indent="0">
              <a:buNone/>
            </a:pPr>
            <a:r>
              <a:rPr lang="en-US" sz="1250" b="1" dirty="0">
                <a:solidFill>
                  <a:srgbClr val="22301F"/>
                </a:solidFill>
                <a:latin typeface="Calibri" pitchFamily="34" charset="0"/>
                <a:ea typeface="Calibri" pitchFamily="34" charset="-122"/>
                <a:cs typeface="Calibri" pitchFamily="34" charset="-120"/>
              </a:rPr>
              <a:t>ownership   </a:t>
            </a:r>
            <a:r>
              <a:rPr lang="en-US" sz="1150" dirty="0">
                <a:solidFill>
                  <a:srgbClr val="5B6B58"/>
                </a:solidFill>
                <a:latin typeface="Calibri" pitchFamily="34" charset="0"/>
                <a:ea typeface="Calibri" pitchFamily="34" charset="-122"/>
                <a:cs typeface="Calibri" pitchFamily="34" charset="-120"/>
              </a:rPr>
              <a:t>editing foreign tours throws forbidden and never reaches save</a:t>
            </a:r>
            <a:endParaRPr lang="en-US" sz="1250" dirty="0"/>
          </a:p>
        </p:txBody>
      </p:sp>
      <p:sp>
        <p:nvSpPr>
          <p:cNvPr id="17" name="Shape 12"/>
          <p:cNvSpPr/>
          <p:nvPr/>
        </p:nvSpPr>
        <p:spPr>
          <a:xfrm>
            <a:off x="3200400" y="3300984"/>
            <a:ext cx="402336" cy="402336"/>
          </a:xfrm>
          <a:prstGeom prst="ellipse">
            <a:avLst/>
          </a:prstGeom>
          <a:solidFill>
            <a:srgbClr val="EAF3E0"/>
          </a:solidFill>
          <a:ln/>
        </p:spPr>
        <p:txBody>
          <a:bodyPr/>
          <a:lstStyle/>
          <a:p>
            <a:endParaRPr lang="en-MK"/>
          </a:p>
        </p:txBody>
      </p:sp>
      <p:pic>
        <p:nvPicPr>
          <p:cNvPr id="18" name="Image 3" descr="preencoded.png"/>
          <p:cNvPicPr>
            <a:picLocks noChangeAspect="1"/>
          </p:cNvPicPr>
          <p:nvPr/>
        </p:nvPicPr>
        <p:blipFill>
          <a:blip r:embed="rId6"/>
          <a:stretch>
            <a:fillRect/>
          </a:stretch>
        </p:blipFill>
        <p:spPr>
          <a:xfrm>
            <a:off x="3288914" y="3389498"/>
            <a:ext cx="225308" cy="225308"/>
          </a:xfrm>
          <a:prstGeom prst="rect">
            <a:avLst/>
          </a:prstGeom>
        </p:spPr>
      </p:pic>
      <p:sp>
        <p:nvSpPr>
          <p:cNvPr id="19" name="Text 13"/>
          <p:cNvSpPr/>
          <p:nvPr/>
        </p:nvSpPr>
        <p:spPr>
          <a:xfrm>
            <a:off x="3703320" y="3246120"/>
            <a:ext cx="4937760" cy="548640"/>
          </a:xfrm>
          <a:prstGeom prst="rect">
            <a:avLst/>
          </a:prstGeom>
          <a:noFill/>
          <a:ln/>
        </p:spPr>
        <p:txBody>
          <a:bodyPr wrap="square" rtlCol="0" anchor="ctr"/>
          <a:lstStyle/>
          <a:p>
            <a:pPr marL="0" indent="0">
              <a:buNone/>
            </a:pPr>
            <a:r>
              <a:rPr lang="en-US" sz="1250" b="1" dirty="0">
                <a:solidFill>
                  <a:srgbClr val="22301F"/>
                </a:solidFill>
                <a:latin typeface="Calibri" pitchFamily="34" charset="0"/>
                <a:ea typeface="Calibri" pitchFamily="34" charset="-122"/>
                <a:cs typeface="Calibri" pitchFamily="34" charset="-120"/>
              </a:rPr>
              <a:t>API fallback   </a:t>
            </a:r>
            <a:r>
              <a:rPr lang="en-US" sz="1150" dirty="0">
                <a:solidFill>
                  <a:srgbClr val="5B6B58"/>
                </a:solidFill>
                <a:latin typeface="Calibri" pitchFamily="34" charset="0"/>
                <a:ea typeface="Calibri" pitchFamily="34" charset="-122"/>
                <a:cs typeface="Calibri" pitchFamily="34" charset="-120"/>
              </a:rPr>
              <a:t>if the route service is down the tour still saves with typed values</a:t>
            </a:r>
            <a:endParaRPr lang="en-US" sz="1250" dirty="0"/>
          </a:p>
        </p:txBody>
      </p:sp>
      <p:sp>
        <p:nvSpPr>
          <p:cNvPr id="20" name="Shape 14"/>
          <p:cNvSpPr/>
          <p:nvPr/>
        </p:nvSpPr>
        <p:spPr>
          <a:xfrm>
            <a:off x="3200400" y="3959352"/>
            <a:ext cx="402336" cy="402336"/>
          </a:xfrm>
          <a:prstGeom prst="ellipse">
            <a:avLst/>
          </a:prstGeom>
          <a:solidFill>
            <a:srgbClr val="EAF3E0"/>
          </a:solidFill>
          <a:ln/>
        </p:spPr>
        <p:txBody>
          <a:bodyPr/>
          <a:lstStyle/>
          <a:p>
            <a:endParaRPr lang="en-MK"/>
          </a:p>
        </p:txBody>
      </p:sp>
      <p:pic>
        <p:nvPicPr>
          <p:cNvPr id="21" name="Image 4" descr="preencoded.png"/>
          <p:cNvPicPr>
            <a:picLocks noChangeAspect="1"/>
          </p:cNvPicPr>
          <p:nvPr/>
        </p:nvPicPr>
        <p:blipFill>
          <a:blip r:embed="rId7"/>
          <a:stretch>
            <a:fillRect/>
          </a:stretch>
        </p:blipFill>
        <p:spPr>
          <a:xfrm>
            <a:off x="3288914" y="4047866"/>
            <a:ext cx="225308" cy="225308"/>
          </a:xfrm>
          <a:prstGeom prst="rect">
            <a:avLst/>
          </a:prstGeom>
        </p:spPr>
      </p:pic>
      <p:sp>
        <p:nvSpPr>
          <p:cNvPr id="22" name="Text 15"/>
          <p:cNvSpPr/>
          <p:nvPr/>
        </p:nvSpPr>
        <p:spPr>
          <a:xfrm>
            <a:off x="3703320" y="3904488"/>
            <a:ext cx="4937760" cy="548640"/>
          </a:xfrm>
          <a:prstGeom prst="rect">
            <a:avLst/>
          </a:prstGeom>
          <a:noFill/>
          <a:ln/>
        </p:spPr>
        <p:txBody>
          <a:bodyPr wrap="square" rtlCol="0" anchor="ctr"/>
          <a:lstStyle/>
          <a:p>
            <a:pPr marL="0" indent="0">
              <a:buNone/>
            </a:pPr>
            <a:r>
              <a:rPr lang="en-US" sz="1250" b="1" dirty="0">
                <a:solidFill>
                  <a:srgbClr val="22301F"/>
                </a:solidFill>
                <a:latin typeface="Calibri" pitchFamily="34" charset="0"/>
                <a:ea typeface="Calibri" pitchFamily="34" charset="-122"/>
                <a:cs typeface="Calibri" pitchFamily="34" charset="-120"/>
              </a:rPr>
              <a:t>computed values   </a:t>
            </a:r>
            <a:r>
              <a:rPr lang="en-US" sz="1150" dirty="0">
                <a:solidFill>
                  <a:srgbClr val="5B6B58"/>
                </a:solidFill>
                <a:latin typeface="Calibri" pitchFamily="34" charset="0"/>
                <a:ea typeface="Calibri" pitchFamily="34" charset="-122"/>
                <a:cs typeface="Calibri" pitchFamily="34" charset="-120"/>
              </a:rPr>
              <a:t>every branch of popularity and child friendliness has its own test</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C5F2D"/>
        </a:solidFill>
        <a:effectLst/>
      </p:bgPr>
    </p:bg>
    <p:spTree>
      <p:nvGrpSpPr>
        <p:cNvPr id="1" name=""/>
        <p:cNvGrpSpPr/>
        <p:nvPr/>
      </p:nvGrpSpPr>
      <p:grpSpPr>
        <a:xfrm>
          <a:off x="0" y="0"/>
          <a:ext cx="0" cy="0"/>
          <a:chOff x="0" y="0"/>
          <a:chExt cx="0" cy="0"/>
        </a:xfrm>
      </p:grpSpPr>
      <p:sp>
        <p:nvSpPr>
          <p:cNvPr id="2" name="Shape 0"/>
          <p:cNvSpPr/>
          <p:nvPr/>
        </p:nvSpPr>
        <p:spPr>
          <a:xfrm>
            <a:off x="4069080" y="777240"/>
            <a:ext cx="1005840" cy="1005840"/>
          </a:xfrm>
          <a:prstGeom prst="ellipse">
            <a:avLst/>
          </a:prstGeom>
          <a:solidFill>
            <a:srgbClr val="97BC62"/>
          </a:solidFill>
          <a:ln/>
        </p:spPr>
        <p:txBody>
          <a:bodyPr/>
          <a:lstStyle/>
          <a:p>
            <a:endParaRPr lang="en-MK"/>
          </a:p>
        </p:txBody>
      </p:sp>
      <p:pic>
        <p:nvPicPr>
          <p:cNvPr id="3" name="Image 0" descr="preencoded.png"/>
          <p:cNvPicPr>
            <a:picLocks noChangeAspect="1"/>
          </p:cNvPicPr>
          <p:nvPr/>
        </p:nvPicPr>
        <p:blipFill>
          <a:blip r:embed="rId3"/>
          <a:stretch>
            <a:fillRect/>
          </a:stretch>
        </p:blipFill>
        <p:spPr>
          <a:xfrm>
            <a:off x="4343400" y="1051560"/>
            <a:ext cx="457200" cy="457200"/>
          </a:xfrm>
          <a:prstGeom prst="rect">
            <a:avLst/>
          </a:prstGeom>
        </p:spPr>
      </p:pic>
      <p:sp>
        <p:nvSpPr>
          <p:cNvPr id="4" name="Text 1"/>
          <p:cNvSpPr/>
          <p:nvPr/>
        </p:nvSpPr>
        <p:spPr>
          <a:xfrm>
            <a:off x="914400" y="2011680"/>
            <a:ext cx="7315200" cy="640080"/>
          </a:xfrm>
          <a:prstGeom prst="rect">
            <a:avLst/>
          </a:prstGeom>
          <a:noFill/>
          <a:ln/>
        </p:spPr>
        <p:txBody>
          <a:bodyPr wrap="square"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Running the tests, live</a:t>
            </a:r>
            <a:endParaRPr lang="en-US" sz="3600" dirty="0"/>
          </a:p>
        </p:txBody>
      </p:sp>
      <p:sp>
        <p:nvSpPr>
          <p:cNvPr id="5" name="Shape 2"/>
          <p:cNvSpPr/>
          <p:nvPr/>
        </p:nvSpPr>
        <p:spPr>
          <a:xfrm>
            <a:off x="2834640" y="2880360"/>
            <a:ext cx="3474720" cy="548640"/>
          </a:xfrm>
          <a:prstGeom prst="roundRect">
            <a:avLst>
              <a:gd name="adj" fmla="val 13333"/>
            </a:avLst>
          </a:prstGeom>
          <a:solidFill>
            <a:srgbClr val="1D3E1E"/>
          </a:solidFill>
          <a:ln/>
        </p:spPr>
        <p:txBody>
          <a:bodyPr/>
          <a:lstStyle/>
          <a:p>
            <a:endParaRPr lang="en-MK"/>
          </a:p>
        </p:txBody>
      </p:sp>
      <p:sp>
        <p:nvSpPr>
          <p:cNvPr id="6" name="Text 3"/>
          <p:cNvSpPr/>
          <p:nvPr/>
        </p:nvSpPr>
        <p:spPr>
          <a:xfrm>
            <a:off x="2834640" y="2880360"/>
            <a:ext cx="3474720" cy="548640"/>
          </a:xfrm>
          <a:prstGeom prst="rect">
            <a:avLst/>
          </a:prstGeom>
          <a:noFill/>
          <a:ln/>
        </p:spPr>
        <p:txBody>
          <a:bodyPr wrap="square" rtlCol="0" anchor="ctr"/>
          <a:lstStyle/>
          <a:p>
            <a:pPr marL="0" indent="0" algn="ctr">
              <a:buNone/>
            </a:pPr>
            <a:r>
              <a:rPr lang="en-US" sz="1800" dirty="0">
                <a:solidFill>
                  <a:srgbClr val="EAF3E0"/>
                </a:solidFill>
                <a:latin typeface="Courier New" pitchFamily="34" charset="0"/>
                <a:ea typeface="Courier New" pitchFamily="34" charset="-122"/>
                <a:cs typeface="Courier New" pitchFamily="34" charset="-120"/>
              </a:rPr>
              <a:t>./mvnw test</a:t>
            </a:r>
            <a:endParaRPr lang="en-US" sz="1800" dirty="0"/>
          </a:p>
        </p:txBody>
      </p:sp>
      <p:sp>
        <p:nvSpPr>
          <p:cNvPr id="7" name="Text 4"/>
          <p:cNvSpPr/>
          <p:nvPr/>
        </p:nvSpPr>
        <p:spPr>
          <a:xfrm>
            <a:off x="1280160" y="3749040"/>
            <a:ext cx="6583680" cy="548640"/>
          </a:xfrm>
          <a:prstGeom prst="rect">
            <a:avLst/>
          </a:prstGeom>
          <a:noFill/>
          <a:ln/>
        </p:spPr>
        <p:txBody>
          <a:bodyPr wrap="square" rtlCol="0" anchor="ctr"/>
          <a:lstStyle/>
          <a:p>
            <a:pPr marL="0" indent="0" algn="ctr">
              <a:buNone/>
            </a:pPr>
            <a:r>
              <a:rPr lang="en-US" sz="1300" i="1" dirty="0">
                <a:solidFill>
                  <a:srgbClr val="EAF3E0"/>
                </a:solidFill>
                <a:latin typeface="Calibri" pitchFamily="34" charset="0"/>
                <a:ea typeface="Calibri" pitchFamily="34" charset="-122"/>
                <a:cs typeface="Calibri" pitchFamily="34" charset="-120"/>
              </a:rPr>
              <a:t>what to point at: tests run 0 failures, and no database was needed because mocks stand in for it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8138160" cy="566928"/>
          </a:xfrm>
          <a:prstGeom prst="rect">
            <a:avLst/>
          </a:prstGeom>
          <a:noFill/>
          <a:ln/>
        </p:spPr>
        <p:txBody>
          <a:bodyPr wrap="square" lIns="0" tIns="0" rIns="0" bIns="0" rtlCol="0" anchor="ctr"/>
          <a:lstStyle/>
          <a:p>
            <a:pPr marL="0" indent="0">
              <a:buNone/>
            </a:pPr>
            <a:r>
              <a:rPr lang="en-US" sz="3000" b="1" dirty="0">
                <a:solidFill>
                  <a:srgbClr val="2C5F2D"/>
                </a:solidFill>
                <a:latin typeface="Cambria" pitchFamily="34" charset="0"/>
                <a:ea typeface="Cambria" pitchFamily="34" charset="-122"/>
                <a:cs typeface="Cambria" pitchFamily="34" charset="-120"/>
              </a:rPr>
              <a:t>Unique feature: the tour image gallery</a:t>
            </a:r>
            <a:endParaRPr lang="en-US" sz="3000" dirty="0"/>
          </a:p>
        </p:txBody>
      </p:sp>
      <p:sp>
        <p:nvSpPr>
          <p:cNvPr id="3" name="Text 1"/>
          <p:cNvSpPr/>
          <p:nvPr/>
        </p:nvSpPr>
        <p:spPr>
          <a:xfrm>
            <a:off x="502920" y="786384"/>
            <a:ext cx="8138160" cy="320040"/>
          </a:xfrm>
          <a:prstGeom prst="rect">
            <a:avLst/>
          </a:prstGeom>
          <a:noFill/>
          <a:ln/>
        </p:spPr>
        <p:txBody>
          <a:bodyPr wrap="square" lIns="0" tIns="0" rIns="0" bIns="0" rtlCol="0" anchor="ctr"/>
          <a:lstStyle/>
          <a:p>
            <a:pPr marL="0" indent="0">
              <a:buNone/>
            </a:pPr>
            <a:r>
              <a:rPr lang="en-US" sz="1300" i="1" dirty="0">
                <a:solidFill>
                  <a:srgbClr val="5B6B58"/>
                </a:solidFill>
                <a:latin typeface="Calibri" pitchFamily="34" charset="0"/>
                <a:ea typeface="Calibri" pitchFamily="34" charset="-122"/>
                <a:cs typeface="Calibri" pitchFamily="34" charset="-120"/>
              </a:rPr>
              <a:t>one visible feature that ties four requirements together</a:t>
            </a:r>
            <a:endParaRPr lang="en-US" sz="1300" dirty="0"/>
          </a:p>
        </p:txBody>
      </p:sp>
      <p:pic>
        <p:nvPicPr>
          <p:cNvPr id="4" name="Image 0"/>
          <p:cNvPicPr>
            <a:picLocks noChangeAspect="1"/>
          </p:cNvPicPr>
          <p:nvPr/>
        </p:nvPicPr>
        <p:blipFill>
          <a:blip r:embed="rId3"/>
          <a:srcRect/>
          <a:stretch/>
        </p:blipFill>
        <p:spPr>
          <a:xfrm>
            <a:off x="502920" y="1587012"/>
            <a:ext cx="4206240" cy="2577551"/>
          </a:xfrm>
          <a:prstGeom prst="rect">
            <a:avLst/>
          </a:prstGeom>
        </p:spPr>
      </p:pic>
      <p:sp>
        <p:nvSpPr>
          <p:cNvPr id="5" name="Shape 2"/>
          <p:cNvSpPr/>
          <p:nvPr/>
        </p:nvSpPr>
        <p:spPr>
          <a:xfrm>
            <a:off x="4983480" y="1417320"/>
            <a:ext cx="420624" cy="420624"/>
          </a:xfrm>
          <a:prstGeom prst="ellipse">
            <a:avLst/>
          </a:prstGeom>
          <a:solidFill>
            <a:srgbClr val="EAF3E0"/>
          </a:solidFill>
          <a:ln/>
        </p:spPr>
        <p:txBody>
          <a:bodyPr/>
          <a:lstStyle/>
          <a:p>
            <a:endParaRPr lang="en-MK"/>
          </a:p>
        </p:txBody>
      </p:sp>
      <p:pic>
        <p:nvPicPr>
          <p:cNvPr id="6" name="Image 1" descr="preencoded.png"/>
          <p:cNvPicPr>
            <a:picLocks noChangeAspect="1"/>
          </p:cNvPicPr>
          <p:nvPr/>
        </p:nvPicPr>
        <p:blipFill>
          <a:blip r:embed="rId4"/>
          <a:stretch>
            <a:fillRect/>
          </a:stretch>
        </p:blipFill>
        <p:spPr>
          <a:xfrm>
            <a:off x="5076017" y="1509857"/>
            <a:ext cx="235549" cy="235549"/>
          </a:xfrm>
          <a:prstGeom prst="rect">
            <a:avLst/>
          </a:prstGeom>
        </p:spPr>
      </p:pic>
      <p:sp>
        <p:nvSpPr>
          <p:cNvPr id="7" name="Text 3"/>
          <p:cNvSpPr/>
          <p:nvPr/>
        </p:nvSpPr>
        <p:spPr>
          <a:xfrm>
            <a:off x="5504688" y="1353312"/>
            <a:ext cx="3200400" cy="777240"/>
          </a:xfrm>
          <a:prstGeom prst="rect">
            <a:avLst/>
          </a:prstGeom>
          <a:noFill/>
          <a:ln/>
        </p:spPr>
        <p:txBody>
          <a:bodyPr wrap="square" rtlCol="0" anchor="t"/>
          <a:lstStyle/>
          <a:p>
            <a:pPr marL="0" indent="0">
              <a:buNone/>
            </a:pPr>
            <a:r>
              <a:rPr lang="en-US" sz="1300" b="1" dirty="0">
                <a:solidFill>
                  <a:srgbClr val="22301F"/>
                </a:solidFill>
                <a:latin typeface="Calibri" pitchFamily="34" charset="0"/>
                <a:ea typeface="Calibri" pitchFamily="34" charset="-122"/>
                <a:cs typeface="Calibri" pitchFamily="34" charset="-120"/>
              </a:rPr>
              <a:t>upload</a:t>
            </a:r>
            <a:endParaRPr lang="en-US" sz="1300" dirty="0"/>
          </a:p>
          <a:p>
            <a:pPr marL="0" indent="0">
              <a:buNone/>
            </a:pPr>
            <a:r>
              <a:rPr lang="en-US" sz="1100" dirty="0">
                <a:solidFill>
                  <a:srgbClr val="5B6B58"/>
                </a:solidFill>
                <a:latin typeface="Calibri" pitchFamily="34" charset="0"/>
                <a:ea typeface="Calibri" pitchFamily="34" charset="-122"/>
                <a:cs typeface="Calibri" pitchFamily="34" charset="-120"/>
              </a:rPr>
              <a:t>every log can carry one validated photo</a:t>
            </a:r>
            <a:endParaRPr lang="en-US" sz="1300" dirty="0"/>
          </a:p>
        </p:txBody>
      </p:sp>
      <p:sp>
        <p:nvSpPr>
          <p:cNvPr id="8" name="Shape 4"/>
          <p:cNvSpPr/>
          <p:nvPr/>
        </p:nvSpPr>
        <p:spPr>
          <a:xfrm>
            <a:off x="4983480" y="2194560"/>
            <a:ext cx="420624" cy="420624"/>
          </a:xfrm>
          <a:prstGeom prst="ellipse">
            <a:avLst/>
          </a:prstGeom>
          <a:solidFill>
            <a:srgbClr val="EAF3E0"/>
          </a:solidFill>
          <a:ln/>
        </p:spPr>
        <p:txBody>
          <a:bodyPr/>
          <a:lstStyle/>
          <a:p>
            <a:endParaRPr lang="en-MK"/>
          </a:p>
        </p:txBody>
      </p:sp>
      <p:pic>
        <p:nvPicPr>
          <p:cNvPr id="9" name="Image 2" descr="preencoded.png"/>
          <p:cNvPicPr>
            <a:picLocks noChangeAspect="1"/>
          </p:cNvPicPr>
          <p:nvPr/>
        </p:nvPicPr>
        <p:blipFill>
          <a:blip r:embed="rId5"/>
          <a:stretch>
            <a:fillRect/>
          </a:stretch>
        </p:blipFill>
        <p:spPr>
          <a:xfrm>
            <a:off x="5076017" y="2287097"/>
            <a:ext cx="235549" cy="235549"/>
          </a:xfrm>
          <a:prstGeom prst="rect">
            <a:avLst/>
          </a:prstGeom>
        </p:spPr>
      </p:pic>
      <p:sp>
        <p:nvSpPr>
          <p:cNvPr id="10" name="Text 5"/>
          <p:cNvSpPr/>
          <p:nvPr/>
        </p:nvSpPr>
        <p:spPr>
          <a:xfrm>
            <a:off x="5504688" y="2130552"/>
            <a:ext cx="3200400" cy="777240"/>
          </a:xfrm>
          <a:prstGeom prst="rect">
            <a:avLst/>
          </a:prstGeom>
          <a:noFill/>
          <a:ln/>
        </p:spPr>
        <p:txBody>
          <a:bodyPr wrap="square" rtlCol="0" anchor="t"/>
          <a:lstStyle/>
          <a:p>
            <a:pPr marL="0" indent="0">
              <a:buNone/>
            </a:pPr>
            <a:r>
              <a:rPr lang="en-US" sz="1300" b="1" dirty="0">
                <a:solidFill>
                  <a:srgbClr val="22301F"/>
                </a:solidFill>
                <a:latin typeface="Calibri" pitchFamily="34" charset="0"/>
                <a:ea typeface="Calibri" pitchFamily="34" charset="-122"/>
                <a:cs typeface="Calibri" pitchFamily="34" charset="-120"/>
              </a:rPr>
              <a:t>stored on disk</a:t>
            </a:r>
            <a:endParaRPr lang="en-US" sz="1300" dirty="0"/>
          </a:p>
          <a:p>
            <a:pPr marL="0" indent="0">
              <a:buNone/>
            </a:pPr>
            <a:r>
              <a:rPr lang="en-US" sz="1100" dirty="0">
                <a:solidFill>
                  <a:srgbClr val="5B6B58"/>
                </a:solidFill>
                <a:latin typeface="Calibri" pitchFamily="34" charset="0"/>
                <a:ea typeface="Calibri" pitchFamily="34" charset="-122"/>
                <a:cs typeface="Calibri" pitchFamily="34" charset="-120"/>
              </a:rPr>
              <a:t>only the file name goes into the database, exactly as required</a:t>
            </a:r>
            <a:endParaRPr lang="en-US" sz="1300" dirty="0"/>
          </a:p>
        </p:txBody>
      </p:sp>
      <p:sp>
        <p:nvSpPr>
          <p:cNvPr id="11" name="Shape 6"/>
          <p:cNvSpPr/>
          <p:nvPr/>
        </p:nvSpPr>
        <p:spPr>
          <a:xfrm>
            <a:off x="4983480" y="2971800"/>
            <a:ext cx="420624" cy="420624"/>
          </a:xfrm>
          <a:prstGeom prst="ellipse">
            <a:avLst/>
          </a:prstGeom>
          <a:solidFill>
            <a:srgbClr val="EAF3E0"/>
          </a:solidFill>
          <a:ln/>
        </p:spPr>
        <p:txBody>
          <a:bodyPr/>
          <a:lstStyle/>
          <a:p>
            <a:endParaRPr lang="en-MK"/>
          </a:p>
        </p:txBody>
      </p:sp>
      <p:pic>
        <p:nvPicPr>
          <p:cNvPr id="12" name="Image 3" descr="preencoded.png"/>
          <p:cNvPicPr>
            <a:picLocks noChangeAspect="1"/>
          </p:cNvPicPr>
          <p:nvPr/>
        </p:nvPicPr>
        <p:blipFill>
          <a:blip r:embed="rId6"/>
          <a:stretch>
            <a:fillRect/>
          </a:stretch>
        </p:blipFill>
        <p:spPr>
          <a:xfrm>
            <a:off x="5076017" y="3064337"/>
            <a:ext cx="235549" cy="235549"/>
          </a:xfrm>
          <a:prstGeom prst="rect">
            <a:avLst/>
          </a:prstGeom>
        </p:spPr>
      </p:pic>
      <p:sp>
        <p:nvSpPr>
          <p:cNvPr id="13" name="Text 7"/>
          <p:cNvSpPr/>
          <p:nvPr/>
        </p:nvSpPr>
        <p:spPr>
          <a:xfrm>
            <a:off x="5504688" y="2907792"/>
            <a:ext cx="3200400" cy="777240"/>
          </a:xfrm>
          <a:prstGeom prst="rect">
            <a:avLst/>
          </a:prstGeom>
          <a:noFill/>
          <a:ln/>
        </p:spPr>
        <p:txBody>
          <a:bodyPr wrap="square" rtlCol="0" anchor="t"/>
          <a:lstStyle/>
          <a:p>
            <a:pPr marL="0" indent="0">
              <a:buNone/>
            </a:pPr>
            <a:r>
              <a:rPr lang="en-US" sz="1300" b="1" dirty="0">
                <a:solidFill>
                  <a:srgbClr val="22301F"/>
                </a:solidFill>
                <a:latin typeface="Calibri" pitchFamily="34" charset="0"/>
                <a:ea typeface="Calibri" pitchFamily="34" charset="-122"/>
                <a:cs typeface="Calibri" pitchFamily="34" charset="-120"/>
              </a:rPr>
              <a:t>aggregated</a:t>
            </a:r>
            <a:endParaRPr lang="en-US" sz="1300" dirty="0"/>
          </a:p>
          <a:p>
            <a:pPr marL="0" indent="0">
              <a:buNone/>
            </a:pPr>
            <a:r>
              <a:rPr lang="en-US" sz="1100" dirty="0">
                <a:solidFill>
                  <a:srgbClr val="5B6B58"/>
                </a:solidFill>
                <a:latin typeface="Calibri" pitchFamily="34" charset="0"/>
                <a:ea typeface="Calibri" pitchFamily="34" charset="-122"/>
                <a:cs typeface="Calibri" pitchFamily="34" charset="-120"/>
              </a:rPr>
              <a:t>one endpoint collects the images of all logs of a tour</a:t>
            </a:r>
            <a:endParaRPr lang="en-US" sz="1300" dirty="0"/>
          </a:p>
        </p:txBody>
      </p:sp>
      <p:sp>
        <p:nvSpPr>
          <p:cNvPr id="14" name="Shape 8"/>
          <p:cNvSpPr/>
          <p:nvPr/>
        </p:nvSpPr>
        <p:spPr>
          <a:xfrm>
            <a:off x="4983480" y="3749040"/>
            <a:ext cx="420624" cy="420624"/>
          </a:xfrm>
          <a:prstGeom prst="ellipse">
            <a:avLst/>
          </a:prstGeom>
          <a:solidFill>
            <a:srgbClr val="EAF3E0"/>
          </a:solidFill>
          <a:ln/>
        </p:spPr>
        <p:txBody>
          <a:bodyPr/>
          <a:lstStyle/>
          <a:p>
            <a:endParaRPr lang="en-MK"/>
          </a:p>
        </p:txBody>
      </p:sp>
      <p:pic>
        <p:nvPicPr>
          <p:cNvPr id="15" name="Image 4" descr="preencoded.png"/>
          <p:cNvPicPr>
            <a:picLocks noChangeAspect="1"/>
          </p:cNvPicPr>
          <p:nvPr/>
        </p:nvPicPr>
        <p:blipFill>
          <a:blip r:embed="rId7"/>
          <a:stretch>
            <a:fillRect/>
          </a:stretch>
        </p:blipFill>
        <p:spPr>
          <a:xfrm>
            <a:off x="5076017" y="3841577"/>
            <a:ext cx="235549" cy="235549"/>
          </a:xfrm>
          <a:prstGeom prst="rect">
            <a:avLst/>
          </a:prstGeom>
        </p:spPr>
      </p:pic>
      <p:sp>
        <p:nvSpPr>
          <p:cNvPr id="16" name="Text 9"/>
          <p:cNvSpPr/>
          <p:nvPr/>
        </p:nvSpPr>
        <p:spPr>
          <a:xfrm>
            <a:off x="5504688" y="3685032"/>
            <a:ext cx="3200400" cy="777240"/>
          </a:xfrm>
          <a:prstGeom prst="rect">
            <a:avLst/>
          </a:prstGeom>
          <a:noFill/>
          <a:ln/>
        </p:spPr>
        <p:txBody>
          <a:bodyPr wrap="square" rtlCol="0" anchor="t"/>
          <a:lstStyle/>
          <a:p>
            <a:pPr marL="0" indent="0">
              <a:buNone/>
            </a:pPr>
            <a:r>
              <a:rPr lang="en-US" sz="1300" b="1" dirty="0">
                <a:solidFill>
                  <a:srgbClr val="22301F"/>
                </a:solidFill>
                <a:latin typeface="Calibri" pitchFamily="34" charset="0"/>
                <a:ea typeface="Calibri" pitchFamily="34" charset="-122"/>
                <a:cs typeface="Calibri" pitchFamily="34" charset="-120"/>
              </a:rPr>
              <a:t>reusable component</a:t>
            </a:r>
            <a:endParaRPr lang="en-US" sz="1300" dirty="0"/>
          </a:p>
          <a:p>
            <a:pPr marL="0" indent="0">
              <a:buNone/>
            </a:pPr>
            <a:r>
              <a:rPr lang="en-US" sz="1100" dirty="0">
                <a:solidFill>
                  <a:srgbClr val="5B6B58"/>
                </a:solidFill>
                <a:latin typeface="Calibri" pitchFamily="34" charset="0"/>
                <a:ea typeface="Calibri" pitchFamily="34" charset="-122"/>
                <a:cs typeface="Calibri" pitchFamily="34" charset="-120"/>
              </a:rPr>
              <a:t>the gallery is its own Angular component with flip arrows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8138160" cy="566928"/>
          </a:xfrm>
          <a:prstGeom prst="rect">
            <a:avLst/>
          </a:prstGeom>
          <a:noFill/>
          <a:ln/>
        </p:spPr>
        <p:txBody>
          <a:bodyPr wrap="square" lIns="0" tIns="0" rIns="0" bIns="0" rtlCol="0" anchor="ctr"/>
          <a:lstStyle/>
          <a:p>
            <a:pPr marL="0" indent="0">
              <a:buNone/>
            </a:pPr>
            <a:r>
              <a:rPr lang="en-US" sz="3000" b="1" dirty="0">
                <a:solidFill>
                  <a:srgbClr val="2C5F2D"/>
                </a:solidFill>
                <a:latin typeface="Cambria" pitchFamily="34" charset="0"/>
                <a:ea typeface="Cambria" pitchFamily="34" charset="-122"/>
                <a:cs typeface="Cambria" pitchFamily="34" charset="-120"/>
              </a:rPr>
              <a:t>What went wrong, what we learned</a:t>
            </a:r>
            <a:endParaRPr lang="en-US" sz="3000" dirty="0"/>
          </a:p>
        </p:txBody>
      </p:sp>
      <p:sp>
        <p:nvSpPr>
          <p:cNvPr id="3" name="Text 1"/>
          <p:cNvSpPr/>
          <p:nvPr/>
        </p:nvSpPr>
        <p:spPr>
          <a:xfrm>
            <a:off x="502920" y="786384"/>
            <a:ext cx="8138160" cy="320040"/>
          </a:xfrm>
          <a:prstGeom prst="rect">
            <a:avLst/>
          </a:prstGeom>
          <a:noFill/>
          <a:ln/>
        </p:spPr>
        <p:txBody>
          <a:bodyPr wrap="square" lIns="0" tIns="0" rIns="0" bIns="0" rtlCol="0" anchor="ctr"/>
          <a:lstStyle/>
          <a:p>
            <a:pPr marL="0" indent="0">
              <a:buNone/>
            </a:pPr>
            <a:r>
              <a:rPr lang="en-US" sz="1300" i="1" dirty="0">
                <a:solidFill>
                  <a:srgbClr val="5B6B58"/>
                </a:solidFill>
                <a:latin typeface="Calibri" pitchFamily="34" charset="0"/>
                <a:ea typeface="Calibri" pitchFamily="34" charset="-122"/>
                <a:cs typeface="Calibri" pitchFamily="34" charset="-120"/>
              </a:rPr>
              <a:t>the honest part of the protocol</a:t>
            </a:r>
            <a:endParaRPr lang="en-US" sz="1300" dirty="0"/>
          </a:p>
        </p:txBody>
      </p:sp>
      <p:sp>
        <p:nvSpPr>
          <p:cNvPr id="4" name="Text 2"/>
          <p:cNvSpPr/>
          <p:nvPr/>
        </p:nvSpPr>
        <p:spPr>
          <a:xfrm>
            <a:off x="502920" y="1188720"/>
            <a:ext cx="4023360" cy="320040"/>
          </a:xfrm>
          <a:prstGeom prst="rect">
            <a:avLst/>
          </a:prstGeom>
          <a:noFill/>
          <a:ln/>
        </p:spPr>
        <p:txBody>
          <a:bodyPr wrap="square" lIns="0" tIns="0" rIns="0" bIns="0" rtlCol="0" anchor="ctr"/>
          <a:lstStyle/>
          <a:p>
            <a:pPr marL="0" indent="0">
              <a:buNone/>
            </a:pPr>
            <a:r>
              <a:rPr lang="en-US" sz="1500" b="1" dirty="0">
                <a:solidFill>
                  <a:srgbClr val="2C5F2D"/>
                </a:solidFill>
                <a:latin typeface="Cambria" pitchFamily="34" charset="0"/>
                <a:ea typeface="Cambria" pitchFamily="34" charset="-122"/>
                <a:cs typeface="Cambria" pitchFamily="34" charset="-120"/>
              </a:rPr>
              <a:t>failures and fixes</a:t>
            </a:r>
            <a:endParaRPr lang="en-US" sz="1500" dirty="0"/>
          </a:p>
        </p:txBody>
      </p:sp>
      <p:pic>
        <p:nvPicPr>
          <p:cNvPr id="5" name="Image 0" descr="preencoded.png"/>
          <p:cNvPicPr>
            <a:picLocks noChangeAspect="1"/>
          </p:cNvPicPr>
          <p:nvPr/>
        </p:nvPicPr>
        <p:blipFill>
          <a:blip r:embed="rId3"/>
          <a:stretch>
            <a:fillRect/>
          </a:stretch>
        </p:blipFill>
        <p:spPr>
          <a:xfrm>
            <a:off x="530352" y="1627632"/>
            <a:ext cx="201168" cy="201168"/>
          </a:xfrm>
          <a:prstGeom prst="rect">
            <a:avLst/>
          </a:prstGeom>
        </p:spPr>
      </p:pic>
      <p:sp>
        <p:nvSpPr>
          <p:cNvPr id="6" name="Text 3"/>
          <p:cNvSpPr/>
          <p:nvPr/>
        </p:nvSpPr>
        <p:spPr>
          <a:xfrm>
            <a:off x="841248" y="1527048"/>
            <a:ext cx="3703320" cy="777240"/>
          </a:xfrm>
          <a:prstGeom prst="rect">
            <a:avLst/>
          </a:prstGeom>
          <a:noFill/>
          <a:ln/>
        </p:spPr>
        <p:txBody>
          <a:bodyPr wrap="square" rtlCol="0" anchor="t"/>
          <a:lstStyle/>
          <a:p>
            <a:pPr marL="0" indent="0">
              <a:buNone/>
            </a:pPr>
            <a:r>
              <a:rPr lang="en-US" sz="1150" b="1" dirty="0">
                <a:solidFill>
                  <a:srgbClr val="22301F"/>
                </a:solidFill>
                <a:latin typeface="Calibri" pitchFamily="34" charset="0"/>
                <a:ea typeface="Calibri" pitchFamily="34" charset="-122"/>
                <a:cs typeface="Calibri" pitchFamily="34" charset="-120"/>
              </a:rPr>
              <a:t>auth errors returned 500</a:t>
            </a:r>
            <a:endParaRPr lang="en-US" sz="1150" dirty="0"/>
          </a:p>
          <a:p>
            <a:pPr marL="0" indent="0">
              <a:buNone/>
            </a:pPr>
            <a:r>
              <a:rPr lang="en-US" sz="1050" dirty="0">
                <a:solidFill>
                  <a:srgbClr val="5B6B58"/>
                </a:solidFill>
                <a:latin typeface="Calibri" pitchFamily="34" charset="0"/>
                <a:ea typeface="Calibri" pitchFamily="34" charset="-122"/>
                <a:cs typeface="Calibri" pitchFamily="34" charset="-120"/>
              </a:rPr>
              <a:t>own exception classes now give a clean 409 and 401</a:t>
            </a:r>
            <a:endParaRPr lang="en-US" sz="1150" dirty="0"/>
          </a:p>
        </p:txBody>
      </p:sp>
      <p:pic>
        <p:nvPicPr>
          <p:cNvPr id="7" name="Image 1" descr="preencoded.png"/>
          <p:cNvPicPr>
            <a:picLocks noChangeAspect="1"/>
          </p:cNvPicPr>
          <p:nvPr/>
        </p:nvPicPr>
        <p:blipFill>
          <a:blip r:embed="rId3"/>
          <a:stretch>
            <a:fillRect/>
          </a:stretch>
        </p:blipFill>
        <p:spPr>
          <a:xfrm>
            <a:off x="530352" y="2432304"/>
            <a:ext cx="201168" cy="201168"/>
          </a:xfrm>
          <a:prstGeom prst="rect">
            <a:avLst/>
          </a:prstGeom>
        </p:spPr>
      </p:pic>
      <p:sp>
        <p:nvSpPr>
          <p:cNvPr id="8" name="Text 4"/>
          <p:cNvSpPr/>
          <p:nvPr/>
        </p:nvSpPr>
        <p:spPr>
          <a:xfrm>
            <a:off x="841248" y="2331720"/>
            <a:ext cx="3703320" cy="777240"/>
          </a:xfrm>
          <a:prstGeom prst="rect">
            <a:avLst/>
          </a:prstGeom>
          <a:noFill/>
          <a:ln/>
        </p:spPr>
        <p:txBody>
          <a:bodyPr wrap="square" rtlCol="0" anchor="t"/>
          <a:lstStyle/>
          <a:p>
            <a:pPr marL="0" indent="0">
              <a:buNone/>
            </a:pPr>
            <a:r>
              <a:rPr lang="en-US" sz="1150" b="1" dirty="0">
                <a:solidFill>
                  <a:srgbClr val="22301F"/>
                </a:solidFill>
                <a:latin typeface="Calibri" pitchFamily="34" charset="0"/>
                <a:ea typeface="Calibri" pitchFamily="34" charset="-122"/>
                <a:cs typeface="Calibri" pitchFamily="34" charset="-120"/>
              </a:rPr>
              <a:t>route API wants longitude first</a:t>
            </a:r>
            <a:endParaRPr lang="en-US" sz="1150" dirty="0"/>
          </a:p>
          <a:p>
            <a:pPr marL="0" indent="0">
              <a:buNone/>
            </a:pPr>
            <a:r>
              <a:rPr lang="en-US" sz="1050" dirty="0">
                <a:solidFill>
                  <a:srgbClr val="5B6B58"/>
                </a:solidFill>
                <a:latin typeface="Calibri" pitchFamily="34" charset="0"/>
                <a:ea typeface="Calibri" pitchFamily="34" charset="-122"/>
                <a:cs typeface="Calibri" pitchFamily="34" charset="-120"/>
              </a:rPr>
              <a:t>geocode first, then hand coordinates over in its order</a:t>
            </a:r>
            <a:endParaRPr lang="en-US" sz="1150" dirty="0"/>
          </a:p>
        </p:txBody>
      </p:sp>
      <p:pic>
        <p:nvPicPr>
          <p:cNvPr id="9" name="Image 2" descr="preencoded.png"/>
          <p:cNvPicPr>
            <a:picLocks noChangeAspect="1"/>
          </p:cNvPicPr>
          <p:nvPr/>
        </p:nvPicPr>
        <p:blipFill>
          <a:blip r:embed="rId3"/>
          <a:stretch>
            <a:fillRect/>
          </a:stretch>
        </p:blipFill>
        <p:spPr>
          <a:xfrm>
            <a:off x="530352" y="3236976"/>
            <a:ext cx="201168" cy="201168"/>
          </a:xfrm>
          <a:prstGeom prst="rect">
            <a:avLst/>
          </a:prstGeom>
        </p:spPr>
      </p:pic>
      <p:sp>
        <p:nvSpPr>
          <p:cNvPr id="10" name="Text 5"/>
          <p:cNvSpPr/>
          <p:nvPr/>
        </p:nvSpPr>
        <p:spPr>
          <a:xfrm>
            <a:off x="841248" y="3136392"/>
            <a:ext cx="3703320" cy="777240"/>
          </a:xfrm>
          <a:prstGeom prst="rect">
            <a:avLst/>
          </a:prstGeom>
          <a:noFill/>
          <a:ln/>
        </p:spPr>
        <p:txBody>
          <a:bodyPr wrap="square" rtlCol="0" anchor="t"/>
          <a:lstStyle/>
          <a:p>
            <a:pPr marL="0" indent="0">
              <a:buNone/>
            </a:pPr>
            <a:r>
              <a:rPr lang="en-US" sz="1150" b="1" dirty="0">
                <a:solidFill>
                  <a:srgbClr val="22301F"/>
                </a:solidFill>
                <a:latin typeface="Calibri" pitchFamily="34" charset="0"/>
                <a:ea typeface="Calibri" pitchFamily="34" charset="-122"/>
                <a:cs typeface="Calibri" pitchFamily="34" charset="-120"/>
              </a:rPr>
              <a:t>browser blocked the frontend (CORS)</a:t>
            </a:r>
            <a:endParaRPr lang="en-US" sz="1150" dirty="0"/>
          </a:p>
          <a:p>
            <a:pPr marL="0" indent="0">
              <a:buNone/>
            </a:pPr>
            <a:r>
              <a:rPr lang="en-US" sz="1050" dirty="0">
                <a:solidFill>
                  <a:srgbClr val="5B6B58"/>
                </a:solidFill>
                <a:latin typeface="Calibri" pitchFamily="34" charset="0"/>
                <a:ea typeface="Calibri" pitchFamily="34" charset="-122"/>
                <a:cs typeface="Calibri" pitchFamily="34" charset="-120"/>
              </a:rPr>
              <a:t>allowed origin configured centrally instead of per controller</a:t>
            </a:r>
            <a:endParaRPr lang="en-US" sz="1150" dirty="0"/>
          </a:p>
        </p:txBody>
      </p:sp>
      <p:pic>
        <p:nvPicPr>
          <p:cNvPr id="11" name="Image 3" descr="preencoded.png"/>
          <p:cNvPicPr>
            <a:picLocks noChangeAspect="1"/>
          </p:cNvPicPr>
          <p:nvPr/>
        </p:nvPicPr>
        <p:blipFill>
          <a:blip r:embed="rId3"/>
          <a:stretch>
            <a:fillRect/>
          </a:stretch>
        </p:blipFill>
        <p:spPr>
          <a:xfrm>
            <a:off x="530352" y="4041648"/>
            <a:ext cx="201168" cy="201168"/>
          </a:xfrm>
          <a:prstGeom prst="rect">
            <a:avLst/>
          </a:prstGeom>
        </p:spPr>
      </p:pic>
      <p:sp>
        <p:nvSpPr>
          <p:cNvPr id="12" name="Text 6"/>
          <p:cNvSpPr/>
          <p:nvPr/>
        </p:nvSpPr>
        <p:spPr>
          <a:xfrm>
            <a:off x="841248" y="3941064"/>
            <a:ext cx="3703320" cy="777240"/>
          </a:xfrm>
          <a:prstGeom prst="rect">
            <a:avLst/>
          </a:prstGeom>
          <a:noFill/>
          <a:ln/>
        </p:spPr>
        <p:txBody>
          <a:bodyPr wrap="square" rtlCol="0" anchor="t"/>
          <a:lstStyle/>
          <a:p>
            <a:pPr marL="0" indent="0">
              <a:buNone/>
            </a:pPr>
            <a:r>
              <a:rPr lang="en-US" sz="1150" b="1" dirty="0">
                <a:solidFill>
                  <a:srgbClr val="22301F"/>
                </a:solidFill>
                <a:latin typeface="Calibri" pitchFamily="34" charset="0"/>
                <a:ea typeface="Calibri" pitchFamily="34" charset="-122"/>
                <a:cs typeface="Calibri" pitchFamily="34" charset="-120"/>
              </a:rPr>
              <a:t>logs vanished on restart</a:t>
            </a:r>
            <a:endParaRPr lang="en-US" sz="1150" dirty="0"/>
          </a:p>
          <a:p>
            <a:pPr marL="0" indent="0">
              <a:buNone/>
            </a:pPr>
            <a:r>
              <a:rPr lang="en-US" sz="1050" dirty="0">
                <a:solidFill>
                  <a:srgbClr val="5B6B58"/>
                </a:solidFill>
                <a:latin typeface="Calibri" pitchFamily="34" charset="0"/>
                <a:ea typeface="Calibri" pitchFamily="34" charset="-122"/>
                <a:cs typeface="Calibri" pitchFamily="34" charset="-120"/>
              </a:rPr>
              <a:t>rolling file appender writes logs/tourplanner.log</a:t>
            </a:r>
            <a:endParaRPr lang="en-US" sz="1150" dirty="0"/>
          </a:p>
        </p:txBody>
      </p:sp>
      <p:sp>
        <p:nvSpPr>
          <p:cNvPr id="13" name="Text 7"/>
          <p:cNvSpPr/>
          <p:nvPr/>
        </p:nvSpPr>
        <p:spPr>
          <a:xfrm>
            <a:off x="4846320" y="1188720"/>
            <a:ext cx="3840480" cy="320040"/>
          </a:xfrm>
          <a:prstGeom prst="rect">
            <a:avLst/>
          </a:prstGeom>
          <a:noFill/>
          <a:ln/>
        </p:spPr>
        <p:txBody>
          <a:bodyPr wrap="square" lIns="0" tIns="0" rIns="0" bIns="0" rtlCol="0" anchor="ctr"/>
          <a:lstStyle/>
          <a:p>
            <a:pPr marL="0" indent="0">
              <a:buNone/>
            </a:pPr>
            <a:r>
              <a:rPr lang="en-US" sz="1500" b="1" dirty="0">
                <a:solidFill>
                  <a:srgbClr val="2C5F2D"/>
                </a:solidFill>
                <a:latin typeface="Cambria" pitchFamily="34" charset="0"/>
                <a:ea typeface="Cambria" pitchFamily="34" charset="-122"/>
                <a:cs typeface="Cambria" pitchFamily="34" charset="-120"/>
              </a:rPr>
              <a:t>lessons learned</a:t>
            </a:r>
            <a:endParaRPr lang="en-US" sz="1500" dirty="0"/>
          </a:p>
        </p:txBody>
      </p:sp>
      <p:pic>
        <p:nvPicPr>
          <p:cNvPr id="14" name="Image 4" descr="preencoded.png"/>
          <p:cNvPicPr>
            <a:picLocks noChangeAspect="1"/>
          </p:cNvPicPr>
          <p:nvPr/>
        </p:nvPicPr>
        <p:blipFill>
          <a:blip r:embed="rId4"/>
          <a:stretch>
            <a:fillRect/>
          </a:stretch>
        </p:blipFill>
        <p:spPr>
          <a:xfrm>
            <a:off x="4873752" y="1627632"/>
            <a:ext cx="201168" cy="201168"/>
          </a:xfrm>
          <a:prstGeom prst="rect">
            <a:avLst/>
          </a:prstGeom>
        </p:spPr>
      </p:pic>
      <p:sp>
        <p:nvSpPr>
          <p:cNvPr id="15" name="Text 8"/>
          <p:cNvSpPr/>
          <p:nvPr/>
        </p:nvSpPr>
        <p:spPr>
          <a:xfrm>
            <a:off x="5184648" y="1527048"/>
            <a:ext cx="3566160" cy="731520"/>
          </a:xfrm>
          <a:prstGeom prst="rect">
            <a:avLst/>
          </a:prstGeom>
          <a:noFill/>
          <a:ln/>
        </p:spPr>
        <p:txBody>
          <a:bodyPr wrap="square" rtlCol="0" anchor="t"/>
          <a:lstStyle/>
          <a:p>
            <a:pPr marL="0" indent="0">
              <a:buNone/>
            </a:pPr>
            <a:r>
              <a:rPr lang="en-US" sz="1150" dirty="0">
                <a:solidFill>
                  <a:srgbClr val="22301F"/>
                </a:solidFill>
                <a:latin typeface="Calibri" pitchFamily="34" charset="0"/>
                <a:ea typeface="Calibri" pitchFamily="34" charset="-122"/>
                <a:cs typeface="Calibri" pitchFamily="34" charset="-120"/>
              </a:rPr>
              <a:t>security belongs in the backend, hidden buttons protect nothing</a:t>
            </a:r>
            <a:endParaRPr lang="en-US" sz="1150" dirty="0"/>
          </a:p>
        </p:txBody>
      </p:sp>
      <p:pic>
        <p:nvPicPr>
          <p:cNvPr id="16" name="Image 5" descr="preencoded.png"/>
          <p:cNvPicPr>
            <a:picLocks noChangeAspect="1"/>
          </p:cNvPicPr>
          <p:nvPr/>
        </p:nvPicPr>
        <p:blipFill>
          <a:blip r:embed="rId4"/>
          <a:stretch>
            <a:fillRect/>
          </a:stretch>
        </p:blipFill>
        <p:spPr>
          <a:xfrm>
            <a:off x="4873752" y="2432304"/>
            <a:ext cx="201168" cy="201168"/>
          </a:xfrm>
          <a:prstGeom prst="rect">
            <a:avLst/>
          </a:prstGeom>
        </p:spPr>
      </p:pic>
      <p:sp>
        <p:nvSpPr>
          <p:cNvPr id="17" name="Text 9"/>
          <p:cNvSpPr/>
          <p:nvPr/>
        </p:nvSpPr>
        <p:spPr>
          <a:xfrm>
            <a:off x="5184648" y="2331720"/>
            <a:ext cx="3566160" cy="731520"/>
          </a:xfrm>
          <a:prstGeom prst="rect">
            <a:avLst/>
          </a:prstGeom>
          <a:noFill/>
          <a:ln/>
        </p:spPr>
        <p:txBody>
          <a:bodyPr wrap="square" rtlCol="0" anchor="t"/>
          <a:lstStyle/>
          <a:p>
            <a:pPr marL="0" indent="0">
              <a:buNone/>
            </a:pPr>
            <a:r>
              <a:rPr lang="en-US" sz="1150" dirty="0">
                <a:solidFill>
                  <a:srgbClr val="22301F"/>
                </a:solidFill>
                <a:latin typeface="Calibri" pitchFamily="34" charset="0"/>
                <a:ea typeface="Calibri" pitchFamily="34" charset="-122"/>
                <a:cs typeface="Calibri" pitchFamily="34" charset="-120"/>
              </a:rPr>
              <a:t>mock the outside world, tests then run in seconds and offline</a:t>
            </a:r>
            <a:endParaRPr lang="en-US" sz="1150" dirty="0"/>
          </a:p>
        </p:txBody>
      </p:sp>
      <p:pic>
        <p:nvPicPr>
          <p:cNvPr id="18" name="Image 6" descr="preencoded.png"/>
          <p:cNvPicPr>
            <a:picLocks noChangeAspect="1"/>
          </p:cNvPicPr>
          <p:nvPr/>
        </p:nvPicPr>
        <p:blipFill>
          <a:blip r:embed="rId4"/>
          <a:stretch>
            <a:fillRect/>
          </a:stretch>
        </p:blipFill>
        <p:spPr>
          <a:xfrm>
            <a:off x="4873752" y="3236976"/>
            <a:ext cx="201168" cy="201168"/>
          </a:xfrm>
          <a:prstGeom prst="rect">
            <a:avLst/>
          </a:prstGeom>
        </p:spPr>
      </p:pic>
      <p:sp>
        <p:nvSpPr>
          <p:cNvPr id="19" name="Text 10"/>
          <p:cNvSpPr/>
          <p:nvPr/>
        </p:nvSpPr>
        <p:spPr>
          <a:xfrm>
            <a:off x="5184648" y="3136392"/>
            <a:ext cx="3566160" cy="731520"/>
          </a:xfrm>
          <a:prstGeom prst="rect">
            <a:avLst/>
          </a:prstGeom>
          <a:noFill/>
          <a:ln/>
        </p:spPr>
        <p:txBody>
          <a:bodyPr wrap="square" rtlCol="0" anchor="t"/>
          <a:lstStyle/>
          <a:p>
            <a:pPr marL="0" indent="0">
              <a:buNone/>
            </a:pPr>
            <a:r>
              <a:rPr lang="en-US" sz="1150" dirty="0">
                <a:solidFill>
                  <a:srgbClr val="22301F"/>
                </a:solidFill>
                <a:latin typeface="Calibri" pitchFamily="34" charset="0"/>
                <a:ea typeface="Calibri" pitchFamily="34" charset="-122"/>
                <a:cs typeface="Calibri" pitchFamily="34" charset="-120"/>
              </a:rPr>
              <a:t>decide early what happens when an external API is down</a:t>
            </a:r>
            <a:endParaRPr lang="en-US" sz="1150" dirty="0"/>
          </a:p>
        </p:txBody>
      </p:sp>
      <p:pic>
        <p:nvPicPr>
          <p:cNvPr id="20" name="Image 7" descr="preencoded.png"/>
          <p:cNvPicPr>
            <a:picLocks noChangeAspect="1"/>
          </p:cNvPicPr>
          <p:nvPr/>
        </p:nvPicPr>
        <p:blipFill>
          <a:blip r:embed="rId4"/>
          <a:stretch>
            <a:fillRect/>
          </a:stretch>
        </p:blipFill>
        <p:spPr>
          <a:xfrm>
            <a:off x="4873752" y="4041648"/>
            <a:ext cx="201168" cy="201168"/>
          </a:xfrm>
          <a:prstGeom prst="rect">
            <a:avLst/>
          </a:prstGeom>
        </p:spPr>
      </p:pic>
      <p:sp>
        <p:nvSpPr>
          <p:cNvPr id="21" name="Text 11"/>
          <p:cNvSpPr/>
          <p:nvPr/>
        </p:nvSpPr>
        <p:spPr>
          <a:xfrm>
            <a:off x="5184648" y="3941064"/>
            <a:ext cx="3566160" cy="731520"/>
          </a:xfrm>
          <a:prstGeom prst="rect">
            <a:avLst/>
          </a:prstGeom>
          <a:noFill/>
          <a:ln/>
        </p:spPr>
        <p:txBody>
          <a:bodyPr wrap="square" rtlCol="0" anchor="t"/>
          <a:lstStyle/>
          <a:p>
            <a:pPr marL="0" indent="0">
              <a:buNone/>
            </a:pPr>
            <a:r>
              <a:rPr lang="en-US" sz="1150" dirty="0">
                <a:solidFill>
                  <a:srgbClr val="22301F"/>
                </a:solidFill>
                <a:latin typeface="Calibri" pitchFamily="34" charset="0"/>
                <a:ea typeface="Calibri" pitchFamily="34" charset="-122"/>
                <a:cs typeface="Calibri" pitchFamily="34" charset="-120"/>
              </a:rPr>
              <a:t>keep secrets out of git from the very first commit</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C5F2D"/>
        </a:solidFill>
        <a:effectLst/>
      </p:bgPr>
    </p:bg>
    <p:spTree>
      <p:nvGrpSpPr>
        <p:cNvPr id="1" name=""/>
        <p:cNvGrpSpPr/>
        <p:nvPr/>
      </p:nvGrpSpPr>
      <p:grpSpPr>
        <a:xfrm>
          <a:off x="0" y="0"/>
          <a:ext cx="0" cy="0"/>
          <a:chOff x="0" y="0"/>
          <a:chExt cx="0" cy="0"/>
        </a:xfrm>
      </p:grpSpPr>
      <p:sp>
        <p:nvSpPr>
          <p:cNvPr id="2" name="Text 0"/>
          <p:cNvSpPr/>
          <p:nvPr/>
        </p:nvSpPr>
        <p:spPr>
          <a:xfrm>
            <a:off x="914400" y="914400"/>
            <a:ext cx="7315200" cy="731520"/>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pic>
        <p:nvPicPr>
          <p:cNvPr id="3" name="Image 0" descr="preencoded.png"/>
          <p:cNvPicPr>
            <a:picLocks noChangeAspect="1"/>
          </p:cNvPicPr>
          <p:nvPr/>
        </p:nvPicPr>
        <p:blipFill>
          <a:blip r:embed="rId3"/>
          <a:stretch>
            <a:fillRect/>
          </a:stretch>
        </p:blipFill>
        <p:spPr>
          <a:xfrm>
            <a:off x="1828800" y="2011680"/>
            <a:ext cx="365760" cy="365760"/>
          </a:xfrm>
          <a:prstGeom prst="rect">
            <a:avLst/>
          </a:prstGeom>
        </p:spPr>
      </p:pic>
      <p:sp>
        <p:nvSpPr>
          <p:cNvPr id="4" name="Text 1"/>
          <p:cNvSpPr/>
          <p:nvPr/>
        </p:nvSpPr>
        <p:spPr>
          <a:xfrm>
            <a:off x="2331720" y="2011680"/>
            <a:ext cx="5029200" cy="3657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total time spent:  86 hours</a:t>
            </a:r>
            <a:endParaRPr lang="en-US" sz="1500" dirty="0"/>
          </a:p>
        </p:txBody>
      </p:sp>
      <p:pic>
        <p:nvPicPr>
          <p:cNvPr id="5" name="Image 1" descr="preencoded.png"/>
          <p:cNvPicPr>
            <a:picLocks noChangeAspect="1"/>
          </p:cNvPicPr>
          <p:nvPr/>
        </p:nvPicPr>
        <p:blipFill>
          <a:blip r:embed="rId4"/>
          <a:stretch>
            <a:fillRect/>
          </a:stretch>
        </p:blipFill>
        <p:spPr>
          <a:xfrm>
            <a:off x="1828800" y="2606040"/>
            <a:ext cx="365760" cy="365760"/>
          </a:xfrm>
          <a:prstGeom prst="rect">
            <a:avLst/>
          </a:prstGeom>
        </p:spPr>
      </p:pic>
      <p:sp>
        <p:nvSpPr>
          <p:cNvPr id="6" name="Text 2"/>
          <p:cNvSpPr/>
          <p:nvPr/>
        </p:nvSpPr>
        <p:spPr>
          <a:xfrm>
            <a:off x="2331720" y="2606040"/>
            <a:ext cx="5760720" cy="36576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full history: github.com/iselinmag/SoftwareEngineering-TourPlanner</a:t>
            </a:r>
            <a:endParaRPr lang="en-US" sz="1350" dirty="0"/>
          </a:p>
        </p:txBody>
      </p:sp>
      <p:pic>
        <p:nvPicPr>
          <p:cNvPr id="7" name="Image 2" descr="preencoded.png"/>
          <p:cNvPicPr>
            <a:picLocks noChangeAspect="1"/>
          </p:cNvPicPr>
          <p:nvPr/>
        </p:nvPicPr>
        <p:blipFill>
          <a:blip r:embed="rId5"/>
          <a:stretch>
            <a:fillRect/>
          </a:stretch>
        </p:blipFill>
        <p:spPr>
          <a:xfrm>
            <a:off x="1828800" y="3200400"/>
            <a:ext cx="365760" cy="365760"/>
          </a:xfrm>
          <a:prstGeom prst="rect">
            <a:avLst/>
          </a:prstGeom>
        </p:spPr>
      </p:pic>
      <p:sp>
        <p:nvSpPr>
          <p:cNvPr id="8" name="Text 3"/>
          <p:cNvSpPr/>
          <p:nvPr/>
        </p:nvSpPr>
        <p:spPr>
          <a:xfrm>
            <a:off x="2331720" y="3200400"/>
            <a:ext cx="5029200" cy="3657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questions welcome</a:t>
            </a:r>
            <a:endParaRPr lang="en-US" sz="1500" dirty="0"/>
          </a:p>
        </p:txBody>
      </p:sp>
      <p:sp>
        <p:nvSpPr>
          <p:cNvPr id="9" name="Text 4"/>
          <p:cNvSpPr/>
          <p:nvPr/>
        </p:nvSpPr>
        <p:spPr>
          <a:xfrm>
            <a:off x="914400" y="4251960"/>
            <a:ext cx="7315200" cy="274320"/>
          </a:xfrm>
          <a:prstGeom prst="rect">
            <a:avLst/>
          </a:prstGeom>
          <a:noFill/>
          <a:ln/>
        </p:spPr>
        <p:txBody>
          <a:bodyPr wrap="square" rtlCol="0" anchor="ctr"/>
          <a:lstStyle/>
          <a:p>
            <a:pPr marL="0" indent="0" algn="ctr">
              <a:buNone/>
            </a:pPr>
            <a:r>
              <a:rPr lang="en-US" sz="1100" i="1" dirty="0">
                <a:solidFill>
                  <a:srgbClr val="97BC62"/>
                </a:solidFill>
              </a:rPr>
              <a:t>protocol, wireframes and diagrams are in the hand-in pdf</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TotalTime>
  <Words>1371</Words>
  <Application>Microsoft Macintosh PowerPoint</Application>
  <PresentationFormat>On-screen Show (16:9)</PresentationFormat>
  <Paragraphs>117</Paragraphs>
  <Slides>12</Slides>
  <Notes>12</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Tour Planner, final presentation</dc:title>
  <dc:subject>PptxGenJS Presentation</dc:subject>
  <dc:creator>Matej Krsteski, Iselin Magnussen</dc:creator>
  <cp:lastModifiedBy>Matej Krsteski</cp:lastModifiedBy>
  <cp:revision>2</cp:revision>
  <dcterms:created xsi:type="dcterms:W3CDTF">2026-07-03T00:00:44Z</dcterms:created>
  <dcterms:modified xsi:type="dcterms:W3CDTF">2026-07-03T16:45:42Z</dcterms:modified>
</cp:coreProperties>
</file>